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6c0de996cb43a9" /><Relationship Type="http://schemas.openxmlformats.org/officeDocument/2006/relationships/extended-properties" Target="/docProps/app.xml" Id="R180f2a9ca87a4fea" /><Relationship Type="http://schemas.openxmlformats.org/officeDocument/2006/relationships/officeDocument" Target="/ppt/presentation.xml" Id="Rdba6f75d7a4a48f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835f283f44902"/>
  </p:sldMasterIdLst>
  <p:notesMasterIdLst>
    <p:notesMasterId xmlns:r="http://schemas.openxmlformats.org/officeDocument/2006/relationships" r:id="R7737be4019e84291"/>
  </p:notesMasterIdLst>
  <p:sldIdLst>
    <p:sldId xmlns:r="http://schemas.openxmlformats.org/officeDocument/2006/relationships" id="256" r:id="R5043c4e9707a461d"/>
    <p:sldId xmlns:r="http://schemas.openxmlformats.org/officeDocument/2006/relationships" id="257" r:id="Ra5ff6c605fff42d1"/>
    <p:sldId xmlns:r="http://schemas.openxmlformats.org/officeDocument/2006/relationships" id="258" r:id="R8053ad604fb14094"/>
    <p:sldId xmlns:r="http://schemas.openxmlformats.org/officeDocument/2006/relationships" id="259" r:id="R83d69ff97ac648b8"/>
    <p:sldId xmlns:r="http://schemas.openxmlformats.org/officeDocument/2006/relationships" id="260" r:id="Rd5e391cdd84041f8"/>
    <p:sldId xmlns:r="http://schemas.openxmlformats.org/officeDocument/2006/relationships" id="261" r:id="R2f48a1c412034b28"/>
    <p:sldId xmlns:r="http://schemas.openxmlformats.org/officeDocument/2006/relationships" id="262" r:id="Rf0b7ffa75c4e4c29"/>
    <p:sldId xmlns:r="http://schemas.openxmlformats.org/officeDocument/2006/relationships" id="263" r:id="R92a706bb5d854bca"/>
    <p:sldId xmlns:r="http://schemas.openxmlformats.org/officeDocument/2006/relationships" id="264" r:id="R3793a102a27c40f1"/>
    <p:sldId xmlns:r="http://schemas.openxmlformats.org/officeDocument/2006/relationships" id="265" r:id="R80e8501db5304878"/>
    <p:sldId xmlns:r="http://schemas.openxmlformats.org/officeDocument/2006/relationships" id="266" r:id="R9106a26ae3834d96"/>
    <p:sldId xmlns:r="http://schemas.openxmlformats.org/officeDocument/2006/relationships" id="267" r:id="R9746e5d53f2340eb"/>
    <p:sldId xmlns:r="http://schemas.openxmlformats.org/officeDocument/2006/relationships" id="268" r:id="R7bf47aa9b3314ed1"/>
    <p:sldId xmlns:r="http://schemas.openxmlformats.org/officeDocument/2006/relationships" id="269" r:id="R47dad5a743da4f00"/>
    <p:sldId xmlns:r="http://schemas.openxmlformats.org/officeDocument/2006/relationships" id="270" r:id="Rb497d93c1e1f4d7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a286a3458014297" /><Relationship Type="http://schemas.openxmlformats.org/officeDocument/2006/relationships/slideMaster" Target="/ppt/slideMasters/slideMaster1.xml" Id="Rc59835f283f44902" /><Relationship Type="http://schemas.openxmlformats.org/officeDocument/2006/relationships/notesMaster" Target="/ppt/notesMasters/notesMaster1.xml" Id="R7737be4019e84291" /><Relationship Type="http://schemas.openxmlformats.org/officeDocument/2006/relationships/presProps" Target="/ppt/presProps.xml" Id="Rf87a0722fbfc4084" /><Relationship Type="http://schemas.openxmlformats.org/officeDocument/2006/relationships/tableStyles" Target="/ppt/tableStyles.xml" Id="R8b4d886086a040ce" /><Relationship Type="http://schemas.openxmlformats.org/officeDocument/2006/relationships/slide" Target="/ppt/slides/slide1.xml" Id="R5043c4e9707a461d" /><Relationship Type="http://schemas.openxmlformats.org/officeDocument/2006/relationships/slide" Target="/ppt/slides/slide2.xml" Id="Ra5ff6c605fff42d1" /><Relationship Type="http://schemas.openxmlformats.org/officeDocument/2006/relationships/slide" Target="/ppt/slides/slide3.xml" Id="R8053ad604fb14094" /><Relationship Type="http://schemas.openxmlformats.org/officeDocument/2006/relationships/slide" Target="/ppt/slides/slide4.xml" Id="R83d69ff97ac648b8" /><Relationship Type="http://schemas.openxmlformats.org/officeDocument/2006/relationships/slide" Target="/ppt/slides/slide5.xml" Id="Rd5e391cdd84041f8" /><Relationship Type="http://schemas.openxmlformats.org/officeDocument/2006/relationships/slide" Target="/ppt/slides/slide6.xml" Id="R2f48a1c412034b28" /><Relationship Type="http://schemas.openxmlformats.org/officeDocument/2006/relationships/slide" Target="/ppt/slides/slide7.xml" Id="Rf0b7ffa75c4e4c29" /><Relationship Type="http://schemas.openxmlformats.org/officeDocument/2006/relationships/slide" Target="/ppt/slides/slide8.xml" Id="R92a706bb5d854bca" /><Relationship Type="http://schemas.openxmlformats.org/officeDocument/2006/relationships/slide" Target="/ppt/slides/slide9.xml" Id="R3793a102a27c40f1" /><Relationship Type="http://schemas.openxmlformats.org/officeDocument/2006/relationships/slide" Target="/ppt/slides/slide10.xml" Id="R80e8501db5304878" /><Relationship Type="http://schemas.openxmlformats.org/officeDocument/2006/relationships/slide" Target="/ppt/slides/slide11.xml" Id="R9106a26ae3834d96" /><Relationship Type="http://schemas.openxmlformats.org/officeDocument/2006/relationships/slide" Target="/ppt/slides/slide12.xml" Id="R9746e5d53f2340eb" /><Relationship Type="http://schemas.openxmlformats.org/officeDocument/2006/relationships/slide" Target="/ppt/slides/slide13.xml" Id="R7bf47aa9b3314ed1" /><Relationship Type="http://schemas.openxmlformats.org/officeDocument/2006/relationships/slide" Target="/ppt/slides/slide14.xml" Id="R47dad5a743da4f00" /><Relationship Type="http://schemas.openxmlformats.org/officeDocument/2006/relationships/slide" Target="/ppt/slides/slide15.xml" Id="Rb497d93c1e1f4d7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76c56d1df27428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eec154681594902" /><Relationship Type="http://schemas.openxmlformats.org/officeDocument/2006/relationships/notesMaster" Target="/ppt/notesMasters/notesMaster1.xml" Id="R7d9b981c7cba4c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812bb1f55ab4e72" /><Relationship Type="http://schemas.openxmlformats.org/officeDocument/2006/relationships/notesMaster" Target="/ppt/notesMasters/notesMaster1.xml" Id="R0563574fc7ac4d7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b2345d9d8de48bd" /><Relationship Type="http://schemas.openxmlformats.org/officeDocument/2006/relationships/notesMaster" Target="/ppt/notesMasters/notesMaster1.xml" Id="Rad5b3bda175d4da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0fb800e0c37436e" /><Relationship Type="http://schemas.openxmlformats.org/officeDocument/2006/relationships/notesMaster" Target="/ppt/notesMasters/notesMaster1.xml" Id="R59abac6404364b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e89e0b65a94a60" /><Relationship Type="http://schemas.openxmlformats.org/officeDocument/2006/relationships/notesMaster" Target="/ppt/notesMasters/notesMaster1.xml" Id="R2f5cf15068ef4ff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6982fd981143b8" /><Relationship Type="http://schemas.openxmlformats.org/officeDocument/2006/relationships/notesMaster" Target="/ppt/notesMasters/notesMaster1.xml" Id="R5b380de49e374d5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6f53f37a0a4d2e" /><Relationship Type="http://schemas.openxmlformats.org/officeDocument/2006/relationships/notesMaster" Target="/ppt/notesMasters/notesMaster1.xml" Id="R41999ea7786f414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e1130592e3f4c6d" /><Relationship Type="http://schemas.openxmlformats.org/officeDocument/2006/relationships/notesMaster" Target="/ppt/notesMasters/notesMaster1.xml" Id="Rf496289518774d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6683db207741b1" /><Relationship Type="http://schemas.openxmlformats.org/officeDocument/2006/relationships/notesMaster" Target="/ppt/notesMasters/notesMaster1.xml" Id="Rb2e09c11c571434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403f2fd29084fcb" /><Relationship Type="http://schemas.openxmlformats.org/officeDocument/2006/relationships/notesMaster" Target="/ppt/notesMasters/notesMaster1.xml" Id="Rf0e36cd645ce44b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a02b00d7b8b4ccf" /><Relationship Type="http://schemas.openxmlformats.org/officeDocument/2006/relationships/notesMaster" Target="/ppt/notesMasters/notesMaster1.xml" Id="R207670bfd1804454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0af712d1724541" /><Relationship Type="http://schemas.openxmlformats.org/officeDocument/2006/relationships/notesMaster" Target="/ppt/notesMasters/notesMaster1.xml" Id="Racc49d576ef7466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7a8ee26c7a84d6f" /><Relationship Type="http://schemas.openxmlformats.org/officeDocument/2006/relationships/notesMaster" Target="/ppt/notesMasters/notesMaster1.xml" Id="Rcdb121b4a34b47c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8b4975db27054f48" /><Relationship Type="http://schemas.openxmlformats.org/officeDocument/2006/relationships/notesMaster" Target="/ppt/notesMasters/notesMaster1.xml" Id="R13f3f5b444d14c4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502ec24417043d7" /><Relationship Type="http://schemas.openxmlformats.org/officeDocument/2006/relationships/notesMaster" Target="/ppt/notesMasters/notesMaster1.xml" Id="R33faf4dbbf28449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README.md</a:t>
            </a:r>
          </a:p>
          <a:p xmlns:a="http://schemas.openxmlformats.org/drawingml/2006/main">
            <a:r>
              <a:t>- Local asset public/og.png</a:t>
            </a:r>
          </a:p>
          <a:p xmlns:a="http://schemas.openxmlformats.org/drawingml/2006/main">
            <a:r>
              <a:t>- Git commit 1d9809e60c0192db62e62342504ecb9b2bc3e612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 log --reverse --format='%ad|%h|%s' --date=short main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sections: 아키텍처, 검증, Cloudflare 배포, GitHub 자동배포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section: 아키텍처</a:t>
            </a:r>
          </a:p>
          <a:p xmlns:a="http://schemas.openxmlformats.org/drawingml/2006/main">
            <a:r>
              <a:t>- Repository directory structure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 주요 기능</a:t>
            </a:r>
          </a:p>
          <a:p xmlns:a="http://schemas.openxmlformats.org/drawingml/2006/main">
            <a:r>
              <a:t>- lib/security/*</a:t>
            </a:r>
          </a:p>
          <a:p xmlns:a="http://schemas.openxmlformats.org/drawingml/2006/main">
            <a:r>
              <a:t>- data/customer-lookup-repository.ts</a:t>
            </a:r>
          </a:p>
          <a:p xmlns:a="http://schemas.openxmlformats.org/drawingml/2006/main">
            <a:r>
              <a:t>- drizzle/0001_private_lookup_admin.sql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f07c936: Implement staff access and mobile operations UI</a:t>
            </a:r>
          </a:p>
          <a:p xmlns:a="http://schemas.openxmlformats.org/drawingml/2006/main">
            <a:r>
              <a:t>- app/admin/staff/page.tsx</a:t>
            </a:r>
          </a:p>
          <a:p xmlns:a="http://schemas.openxmlformats.org/drawingml/2006/main">
            <a:r>
              <a:t>- lib/admin-auth.ts</a:t>
            </a:r>
          </a:p>
          <a:p xmlns:a="http://schemas.openxmlformats.org/drawingml/2006/main">
            <a:r>
              <a:t>- data/admin-request-repository.ts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.github/workflows/deploy.yml</a:t>
            </a:r>
          </a:p>
          <a:p xmlns:a="http://schemas.openxmlformats.org/drawingml/2006/main">
            <a:r>
              <a:t>- README.md section: GitHub 자동배포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Commits d616ab7, 5a09b27, 324c5e9</a:t>
            </a:r>
          </a:p>
          <a:p xmlns:a="http://schemas.openxmlformats.org/drawingml/2006/main">
            <a:r>
              <a:t>- lib/security/password.ts</a:t>
            </a:r>
          </a:p>
          <a:p xmlns:a="http://schemas.openxmlformats.org/drawingml/2006/main">
            <a:r>
              <a:t>- lib/security/constant-time.ts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Commits 34b4778, 59073d4, a19a915</a:t>
            </a:r>
          </a:p>
          <a:p xmlns:a="http://schemas.openxmlformats.org/drawingml/2006/main">
            <a:r>
              <a:t>- lib/phone.ts</a:t>
            </a:r>
          </a:p>
          <a:p xmlns:a="http://schemas.openxmlformats.org/drawingml/2006/main">
            <a:r>
              <a:t>- tests/playwright_smoke.py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04f769d</a:t>
            </a:r>
          </a:p>
          <a:p xmlns:a="http://schemas.openxmlformats.org/drawingml/2006/main">
            <a:r>
              <a:t>- Commit f74fc7a</a:t>
            </a:r>
          </a:p>
          <a:p xmlns:a="http://schemas.openxmlformats.org/drawingml/2006/main">
            <a:r>
              <a:t>- Commit 056c2e2</a:t>
            </a:r>
          </a:p>
          <a:p xmlns:a="http://schemas.openxmlformats.org/drawingml/2006/main">
            <a:r>
              <a:t>- README.md section: 서버 PC 신청 데이터 백업</a:t>
            </a:r>
          </a:p>
          <a:p xmlns:a="http://schemas.openxmlformats.org/drawingml/2006/main">
            <a:r>
              <a:t>- wrangler.jsonc cron triggers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f07c936</a:t>
            </a:r>
          </a:p>
          <a:p xmlns:a="http://schemas.openxmlformats.org/drawingml/2006/main">
            <a:r>
              <a:t>- components/admin-request-record-form.tsx</a:t>
            </a:r>
          </a:p>
          <a:p xmlns:a="http://schemas.openxmlformats.org/drawingml/2006/main">
            <a:r>
              <a:t>- app/admin/page.tsx</a:t>
            </a:r>
          </a:p>
          <a:p xmlns:a="http://schemas.openxmlformats.org/drawingml/2006/main">
            <a:r>
              <a:t>- tests/playwright_smoke.py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GitHub PR #1 https://github.com/jung372/Computer_repair_website/pull/1</a:t>
            </a:r>
          </a:p>
          <a:p xmlns:a="http://schemas.openxmlformats.org/drawingml/2006/main">
            <a:r>
              <a:t>- GitHub PR #2 https://github.com/jung372/Computer_repair_website/pull/2</a:t>
            </a:r>
          </a:p>
          <a:p xmlns:a="http://schemas.openxmlformats.org/drawingml/2006/main">
            <a:r>
              <a:t>- Commits 056c2e2, f07c936, 7eda503, 1d9809e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Commit 1d9809e</a:t>
            </a:r>
          </a:p>
          <a:p xmlns:a="http://schemas.openxmlformats.org/drawingml/2006/main">
            <a:r>
              <a:t>- Local validation: npm run lint, wrangler types --check, npm test</a:t>
            </a:r>
          </a:p>
          <a:p xmlns:a="http://schemas.openxmlformats.org/drawingml/2006/main">
            <a:r>
              <a:t>- GitHub Actions Run #28 https://github.com/jung372/Computer_repair_website/actions/runs/31298327142</a:t>
            </a:r>
          </a:p>
          <a:p xmlns:a="http://schemas.openxmlformats.org/drawingml/2006/main">
            <a:r>
              <a:t>- Production URL https://combaksa.pe.kr/admin/login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Lessons synthesized from repository Git history, deploy.yml, tests, backup scripts, and the f07c936 merge incident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README.md</a:t>
            </a:r>
          </a:p>
          <a:p xmlns:a="http://schemas.openxmlformats.org/drawingml/2006/main">
            <a:r>
              <a:t>- Git history through commit 1d9809e</a:t>
            </a:r>
          </a:p>
          <a:p xmlns:a="http://schemas.openxmlformats.org/drawingml/2006/main">
            <a:r>
              <a:t>- Production URL https://combaksa.pe.kr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a6af31d4e45e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ead3c0d1814d22" /><Relationship Type="http://schemas.openxmlformats.org/officeDocument/2006/relationships/slideLayout" Target="/ppt/slideLayouts/slideLayout1.xml" Id="Rabe85dd07a97476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e85dd07a97476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bbd76946044236" /><Relationship Type="http://schemas.openxmlformats.org/officeDocument/2006/relationships/image" Target="/ppt/media/image.png" Id="R85a279f4b7524d5c" /><Relationship Type="http://schemas.openxmlformats.org/officeDocument/2006/relationships/notesSlide" Target="/ppt/notesSlides/notesSlide1.xml" Id="Ra84daaf9914946d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f421bf540346d8" /><Relationship Type="http://schemas.openxmlformats.org/officeDocument/2006/relationships/chart" Target="/ppt/slides/charts/chart1.xml" Id="Ra8ea2b1c2c4c4c77" /><Relationship Type="http://schemas.openxmlformats.org/officeDocument/2006/relationships/notesSlide" Target="/ppt/notesSlides/notesSlide2.xml" Id="R5b14e7604f0f4c7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35c8f90d1f4de1" /><Relationship Type="http://schemas.openxmlformats.org/officeDocument/2006/relationships/notesSlide" Target="/ppt/notesSlides/notesSlide3.xml" Id="R30846d722c074e9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7e20bed20464b" /><Relationship Type="http://schemas.openxmlformats.org/officeDocument/2006/relationships/notesSlide" Target="/ppt/notesSlides/notesSlide4.xml" Id="Ra83f20d8a3b9427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b95c8af8a04023" /><Relationship Type="http://schemas.openxmlformats.org/officeDocument/2006/relationships/notesSlide" Target="/ppt/notesSlides/notesSlide5.xml" Id="Rac7c7909772443e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d64f18abdc4754" /><Relationship Type="http://schemas.openxmlformats.org/officeDocument/2006/relationships/notesSlide" Target="/ppt/notesSlides/notesSlide6.xml" Id="R63dc8089b0c1497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de45b2a9a34ecb" /><Relationship Type="http://schemas.openxmlformats.org/officeDocument/2006/relationships/notesSlide" Target="/ppt/notesSlides/notesSlide7.xml" Id="R665d2ff572be4e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555e22363f4caa" /><Relationship Type="http://schemas.openxmlformats.org/officeDocument/2006/relationships/notesSlide" Target="/ppt/notesSlides/notesSlide8.xml" Id="Rdbdcf3f7709349d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7fb92825f643b9" /><Relationship Type="http://schemas.openxmlformats.org/officeDocument/2006/relationships/notesSlide" Target="/ppt/notesSlides/notesSlide9.xml" Id="R87c5d7626b274c9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d3f7f1e22445f6" /><Relationship Type="http://schemas.openxmlformats.org/officeDocument/2006/relationships/notesSlide" Target="/ppt/notesSlides/notesSlide10.xml" Id="R08af106d3db540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df97a7d2464aaf" /><Relationship Type="http://schemas.openxmlformats.org/officeDocument/2006/relationships/notesSlide" Target="/ppt/notesSlides/notesSlide11.xml" Id="Rb16c711bcb714856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af290e366449d8" /><Relationship Type="http://schemas.openxmlformats.org/officeDocument/2006/relationships/notesSlide" Target="/ppt/notesSlides/notesSlide12.xml" Id="R61d5fe95a8634e7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b29c22d6ad48c8" /><Relationship Type="http://schemas.openxmlformats.org/officeDocument/2006/relationships/notesSlide" Target="/ppt/notesSlides/notesSlide13.xml" Id="R3a62d3bc3a21474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c2e33e90cf445c" /><Relationship Type="http://schemas.openxmlformats.org/officeDocument/2006/relationships/notesSlide" Target="/ppt/notesSlides/notesSlide14.xml" Id="R8ccf1a0f839e4e0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9562f4b73b4c82" /><Relationship Type="http://schemas.openxmlformats.org/officeDocument/2006/relationships/notesSlide" Target="/ppt/notesSlides/notesSlide15.xml" Id="R726f4b5394804bf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커밋 수</c:v>
          </c:tx>
          <c:spPr>
            <a:solidFill xmlns:a="http://schemas.openxmlformats.org/drawingml/2006/main">
              <a:srgbClr val="226BFF"/>
            </a:solidFill>
          </c:spPr>
          <c:cat>
            <c:strLit>
              <c:ptCount val="5"/>
              <c:pt idx="0">
                <c:v>7/29</c:v>
              </c:pt>
              <c:pt idx="1">
                <c:v>7/30</c:v>
              </c:pt>
              <c:pt idx="2">
                <c:v>7/31</c:v>
              </c:pt>
              <c:pt idx="3">
                <c:v>8/1</c:v>
              </c:pt>
              <c:pt idx="4">
                <c:v>8/9</c:v>
              </c:pt>
            </c:strLit>
          </c:cat>
          <c:val>
            <c:numLit>
              <c:formatCode>General</c:formatCode>
              <c:ptCount val="5"/>
              <c:pt idx="0">
                <c:v>10</c:v>
              </c:pt>
              <c:pt idx="1">
                <c:v>12</c:v>
              </c:pt>
              <c:pt idx="2">
                <c:v>3</c:v>
              </c:pt>
              <c:pt idx="3">
                <c:v>3</c:v>
              </c:pt>
              <c:pt idx="4">
                <c:v>3</c:v>
              </c:pt>
            </c:numLit>
          </c:val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D0D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72768"/>
      </c:catAx>
      <c:valAx>
        <c:axId val="48672768"/>
        <c:scaling>
          <c:orientation val="minMax"/>
          <c:max val="14"/>
        </c:scaling>
        <c:delete val="0"/>
        <c:axPos val="l"/>
        <c:majorGridlines>
          <c:spPr>
            <a:ln xmlns:a="http://schemas.openxmlformats.org/drawingml/2006/main" w="9525">
              <a:solidFill>
                <a:srgbClr val="E9EDF2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0">
            <a:solidFill>
              <a:srgbClr val="F7F8FA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</a:p>
        </c:txPr>
        <c:crossAx val="48650112"/>
        <c:crossBetween val="between"/>
        <c:majorUnit val="2"/>
      </c:valAx>
      <c:spPr>
        <a:noFill xmlns:a="http://schemas.openxmlformats.org/drawingml/2006/main"/>
        <a:ln xmlns:a="http://schemas.openxmlformats.org/drawingml/2006/main" w="0">
          <a:solidFill>
            <a:srgbClr val="F7F8FA"/>
          </a:solidFill>
          <a:prstDash val="solid"/>
        </a:ln>
      </c:spPr>
    </c:plotArea>
    <c:plotVisOnly val="1"/>
  </c:chart>
  <c:spPr>
    <a:solidFill xmlns:a="http://schemas.openxmlformats.org/drawingml/2006/main">
      <a:srgbClr val="F7F8FA"/>
    </a:solidFill>
    <a:ln xmlns:a="http://schemas.openxmlformats.org/drawingml/2006/main" w="0">
      <a:solidFill>
        <a:srgbClr val="F7F8FA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B6EB92B-A863-4441-B528-C21D63074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381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COMBAKSA · PROJECT RETROSPECTIVE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00B19BAC-24E7-418E-982A-2F68AE476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5143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컴박사 웹페이지</a:t>
            </a:r>
          </a:p>
          <a:p xmlns:a="http://schemas.openxmlformats.org/drawingml/2006/main">
            <a:pPr algn="l">
              <a:defRPr sz="4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42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구축 회고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B63063C-4E20-43AB-91BC-C8649EE90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848100"/>
            <a:ext cx="514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구축 절차 · 시행착오 · 배포 복구 사례</a:t>
            </a:r>
          </a:p>
        </p:txBody>
      </p:sp>
      <p:sp>
        <p:nvSpPr>
          <p:cNvPr id="4" name="cover-meta">
            <a:extLst xmlns:a="http://schemas.openxmlformats.org/drawingml/2006/main">
              <a:ext uri="{FF2B5EF4-FFF2-40B4-BE49-F238E27FC236}">
                <a16:creationId xmlns:a16="http://schemas.microsoft.com/office/drawing/2014/main" id="{314FA997-0504-4FBF-BFCC-F5C2A7A40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21970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Next.js 호환 App Router · Cloudflare Workers · D1 · R2</a:t>
            </a:r>
          </a:p>
        </p:txBody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a279f4b7524d5c"/>
          <a:stretch xmlns:a="http://schemas.openxmlformats.org/drawingml/2006/main"/>
        </p:blipFill>
        <p:spPr>
          <a:xfrm xmlns:a="http://schemas.openxmlformats.org/drawingml/2006/main">
            <a:off x="6400800" y="2047688"/>
            <a:ext cx="5257800" cy="2762624"/>
          </a:xfrm>
          <a:prstGeom xmlns:a="http://schemas.openxmlformats.org/drawingml/2006/main" prst="roundRect">
            <a:avLst>
              <a:gd name="adj" fmla="val 2174"/>
            </a:avLst>
          </a:prstGeom>
        </p:spPr>
      </p:pic>
    </p:spTree>
    <p:extLst>
      <p:ext uri="{BB962C8B-B14F-4D97-AF65-F5344CB8AC3E}">
        <p14:creationId xmlns:p14="http://schemas.microsoft.com/office/powerpoint/2010/main" val="5425089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2">
            <a:extLst xmlns:a="http://schemas.openxmlformats.org/drawingml/2006/main">
              <a:ext uri="{FF2B5EF4-FFF2-40B4-BE49-F238E27FC236}">
                <a16:creationId xmlns:a16="http://schemas.microsoft.com/office/drawing/2014/main" id="{8D41867D-8B1B-48B4-B4A5-5B82298C4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477DB10E-B98E-465C-B872-96B2C71A1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11일 동안 31개 커밋으로 서비스가 운영 시스템으로 확장됐다</a:t>
            </a:r>
          </a:p>
        </p:txBody>
      </p:sp>
      <p:cxnSp>
        <p:nvCxnSpPr>
          <p:cNvPr id="21" name="top-rule-2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13372D2D-474A-4937-ABFA-9B4102371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E0FCB035-1F55-45DF-8790-51D007F7E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graphicFrame>
        <p:nvGraphicFramePr>
          <p:cNvPr id="24" name="Chart"/>
          <p:cNvGraphicFramePr/>
          <p:nvPr/>
        </p:nvGraphicFramePr>
        <p:xfrm>
          <a:off xmlns:a="http://schemas.openxmlformats.org/drawingml/2006/main" x="533400" y="1790700"/>
          <a:ext xmlns:a="http://schemas.openxmlformats.org/drawingml/2006/main" cx="581025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8ea2b1c2c4c4c77"/>
          </a:graphicData>
        </a:graphic>
      </p:graphicFrame>
      <p:sp>
        <p:nvSpPr>
          <p:cNvPr id="7" name="history-card-0">
            <a:extLst xmlns:a="http://schemas.openxmlformats.org/drawingml/2006/main">
              <a:ext uri="{FF2B5EF4-FFF2-40B4-BE49-F238E27FC236}">
                <a16:creationId xmlns:a16="http://schemas.microsoft.com/office/drawing/2014/main" id="{4D0338A4-8EB9-46D2-99E5-E25F2B26C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1752600"/>
            <a:ext cx="4838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8" name="history-date-0">
            <a:extLst xmlns:a="http://schemas.openxmlformats.org/drawingml/2006/main">
              <a:ext uri="{FF2B5EF4-FFF2-40B4-BE49-F238E27FC236}">
                <a16:creationId xmlns:a16="http://schemas.microsoft.com/office/drawing/2014/main" id="{A3BEEBD1-E082-4FA1-B32E-BDA85F1C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1943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7/29</a:t>
            </a:r>
          </a:p>
        </p:txBody>
      </p:sp>
      <p:sp>
        <p:nvSpPr>
          <p:cNvPr id="9" name="history-title-0">
            <a:extLst xmlns:a="http://schemas.openxmlformats.org/drawingml/2006/main">
              <a:ext uri="{FF2B5EF4-FFF2-40B4-BE49-F238E27FC236}">
                <a16:creationId xmlns:a16="http://schemas.microsoft.com/office/drawing/2014/main" id="{17F60AF5-5882-4660-896B-EECDC696A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24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기초 구축과 첫 배포</a:t>
            </a:r>
          </a:p>
        </p:txBody>
      </p:sp>
      <p:sp>
        <p:nvSpPr>
          <p:cNvPr id="10" name="history-body-0">
            <a:extLst xmlns:a="http://schemas.openxmlformats.org/drawingml/2006/main">
              <a:ext uri="{FF2B5EF4-FFF2-40B4-BE49-F238E27FC236}">
                <a16:creationId xmlns:a16="http://schemas.microsoft.com/office/drawing/2014/main" id="{9006A1BC-B577-422D-90D5-C73FA85C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241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웹·D1·Workers 골격을 하루에 연결</a:t>
            </a:r>
          </a:p>
        </p:txBody>
      </p:sp>
      <p:sp>
        <p:nvSpPr>
          <p:cNvPr id="11" name="history-card-1">
            <a:extLst xmlns:a="http://schemas.openxmlformats.org/drawingml/2006/main">
              <a:ext uri="{FF2B5EF4-FFF2-40B4-BE49-F238E27FC236}">
                <a16:creationId xmlns:a16="http://schemas.microsoft.com/office/drawing/2014/main" id="{F417BFB5-A0B1-4FCB-9772-9965A97B8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3162300"/>
            <a:ext cx="4838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2" name="history-date-1">
            <a:extLst xmlns:a="http://schemas.openxmlformats.org/drawingml/2006/main">
              <a:ext uri="{FF2B5EF4-FFF2-40B4-BE49-F238E27FC236}">
                <a16:creationId xmlns:a16="http://schemas.microsoft.com/office/drawing/2014/main" id="{F49727D2-2613-4169-8037-AA4D5FE0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528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7/30–31</a:t>
            </a:r>
          </a:p>
        </p:txBody>
      </p:sp>
      <p:sp>
        <p:nvSpPr>
          <p:cNvPr id="13" name="history-title-1">
            <a:extLst xmlns:a="http://schemas.openxmlformats.org/drawingml/2006/main">
              <a:ext uri="{FF2B5EF4-FFF2-40B4-BE49-F238E27FC236}">
                <a16:creationId xmlns:a16="http://schemas.microsoft.com/office/drawing/2014/main" id="{228BA3B7-8311-4340-8431-403B57D18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3337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보안과 운영 안정화</a:t>
            </a:r>
          </a:p>
        </p:txBody>
      </p:sp>
      <p:sp>
        <p:nvSpPr>
          <p:cNvPr id="14" name="history-body-1">
            <a:extLst xmlns:a="http://schemas.openxmlformats.org/drawingml/2006/main">
              <a:ext uri="{FF2B5EF4-FFF2-40B4-BE49-F238E27FC236}">
                <a16:creationId xmlns:a16="http://schemas.microsoft.com/office/drawing/2014/main" id="{08CDF636-3E70-4819-BC28-AACAA2F9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7338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인증·입력·알림·백업을 연속 보강</a:t>
            </a:r>
          </a:p>
        </p:txBody>
      </p:sp>
      <p:sp>
        <p:nvSpPr>
          <p:cNvPr id="15" name="history-card-2">
            <a:extLst xmlns:a="http://schemas.openxmlformats.org/drawingml/2006/main">
              <a:ext uri="{FF2B5EF4-FFF2-40B4-BE49-F238E27FC236}">
                <a16:creationId xmlns:a16="http://schemas.microsoft.com/office/drawing/2014/main" id="{227D6E9A-C4DA-4006-9609-E62E1D545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572000"/>
            <a:ext cx="4838700" cy="11620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6" name="history-date-2">
            <a:extLst xmlns:a="http://schemas.openxmlformats.org/drawingml/2006/main">
              <a:ext uri="{FF2B5EF4-FFF2-40B4-BE49-F238E27FC236}">
                <a16:creationId xmlns:a16="http://schemas.microsoft.com/office/drawing/2014/main" id="{C39011E3-78FD-46F1-A773-72C695ED2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625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8/1–9</a:t>
            </a:r>
          </a:p>
        </p:txBody>
      </p:sp>
      <p:sp>
        <p:nvSpPr>
          <p:cNvPr id="17" name="history-title-2">
            <a:extLst xmlns:a="http://schemas.openxmlformats.org/drawingml/2006/main">
              <a:ext uri="{FF2B5EF4-FFF2-40B4-BE49-F238E27FC236}">
                <a16:creationId xmlns:a16="http://schemas.microsoft.com/office/drawing/2014/main" id="{8B706C46-5525-4DEC-A53B-23AA2A31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4743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직원 운영과 도메인</a:t>
            </a:r>
          </a:p>
        </p:txBody>
      </p:sp>
      <p:sp>
        <p:nvSpPr>
          <p:cNvPr id="18" name="history-body-2">
            <a:extLst xmlns:a="http://schemas.openxmlformats.org/drawingml/2006/main">
              <a:ext uri="{FF2B5EF4-FFF2-40B4-BE49-F238E27FC236}">
                <a16:creationId xmlns:a16="http://schemas.microsoft.com/office/drawing/2014/main" id="{4656393E-F35A-4381-A336-4E3C57949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143500"/>
            <a:ext cx="42481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권한 분리 후 브랜치 사고까지 복구</a:t>
            </a:r>
          </a:p>
        </p:txBody>
      </p:sp>
    </p:spTree>
    <p:extLst>
      <p:ext uri="{BB962C8B-B14F-4D97-AF65-F5344CB8AC3E}">
        <p14:creationId xmlns:p14="http://schemas.microsoft.com/office/powerpoint/2010/main" val="14255530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3">
            <a:extLst xmlns:a="http://schemas.openxmlformats.org/drawingml/2006/main">
              <a:ext uri="{FF2B5EF4-FFF2-40B4-BE49-F238E27FC236}">
                <a16:creationId xmlns:a16="http://schemas.microsoft.com/office/drawing/2014/main" id="{2BF4B893-3A2B-477D-8CF3-9FCC1F199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17ABCAD9-1036-4013-A162-9FC6E6E4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구축 절차는 화면 제작이 아니라 운영 흐름을 닫는 순서였다</a:t>
            </a:r>
          </a:p>
        </p:txBody>
      </p:sp>
      <p:cxnSp>
        <p:nvCxnSpPr>
          <p:cNvPr id="35" name="top-rule-3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9C63E4C-2A1F-4AC1-B8FC-2924020E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8175FAA6-DD88-476D-A632-DA09BC3DC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cxnSp>
        <p:nvCxnSpPr>
          <p:cNvPr id="38" name="process-line"/>
          <p:cNvCxnSpPr/>
          <p:nvPr/>
        </p:nvCxnSpPr>
        <p:spPr>
          <a:xfrm xmlns:a="http://schemas.openxmlformats.org/drawingml/2006/main">
            <a:off x="990600" y="2971800"/>
            <a:ext cx="100965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sp>
        <p:nvSpPr>
          <p:cNvPr id="7" name="process-dot-0">
            <a:extLst xmlns:a="http://schemas.openxmlformats.org/drawingml/2006/main">
              <a:ext uri="{FF2B5EF4-FFF2-40B4-BE49-F238E27FC236}">
                <a16:creationId xmlns:a16="http://schemas.microsoft.com/office/drawing/2014/main" id="{B90D421E-41D8-43AC-BB28-CF48B20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8" name="process-index-0">
            <a:extLst xmlns:a="http://schemas.openxmlformats.org/drawingml/2006/main">
              <a:ext uri="{FF2B5EF4-FFF2-40B4-BE49-F238E27FC236}">
                <a16:creationId xmlns:a16="http://schemas.microsoft.com/office/drawing/2014/main" id="{64F8C0DE-2D8F-461B-8F67-D791BFB39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9" name="process-title-0">
            <a:extLst xmlns:a="http://schemas.openxmlformats.org/drawingml/2006/main">
              <a:ext uri="{FF2B5EF4-FFF2-40B4-BE49-F238E27FC236}">
                <a16:creationId xmlns:a16="http://schemas.microsoft.com/office/drawing/2014/main" id="{71A9D3BD-F901-4F08-9C4E-E3517F452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요구 정의</a:t>
            </a:r>
          </a:p>
        </p:txBody>
      </p:sp>
      <p:sp>
        <p:nvSpPr>
          <p:cNvPr id="10" name="process-body-0">
            <a:extLst xmlns:a="http://schemas.openxmlformats.org/drawingml/2006/main">
              <a:ext uri="{FF2B5EF4-FFF2-40B4-BE49-F238E27FC236}">
                <a16:creationId xmlns:a16="http://schemas.microsoft.com/office/drawing/2014/main" id="{3324190C-5E4C-49BC-8DE7-706A32ACE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공개/비공개 범위</a:t>
            </a:r>
          </a:p>
        </p:txBody>
      </p:sp>
      <p:sp>
        <p:nvSpPr>
          <p:cNvPr id="11" name="process-dot-1">
            <a:extLst xmlns:a="http://schemas.openxmlformats.org/drawingml/2006/main">
              <a:ext uri="{FF2B5EF4-FFF2-40B4-BE49-F238E27FC236}">
                <a16:creationId xmlns:a16="http://schemas.microsoft.com/office/drawing/2014/main" id="{DD080F9B-34BB-422B-A4D6-416CB0CF2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2" name="process-index-1">
            <a:extLst xmlns:a="http://schemas.openxmlformats.org/drawingml/2006/main">
              <a:ext uri="{FF2B5EF4-FFF2-40B4-BE49-F238E27FC236}">
                <a16:creationId xmlns:a16="http://schemas.microsoft.com/office/drawing/2014/main" id="{C0CE7D9F-FA61-4F6C-B42F-A5A18E1A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2</a:t>
            </a:r>
          </a:p>
        </p:txBody>
      </p:sp>
      <p:sp>
        <p:nvSpPr>
          <p:cNvPr id="13" name="process-title-1">
            <a:extLst xmlns:a="http://schemas.openxmlformats.org/drawingml/2006/main">
              <a:ext uri="{FF2B5EF4-FFF2-40B4-BE49-F238E27FC236}">
                <a16:creationId xmlns:a16="http://schemas.microsoft.com/office/drawing/2014/main" id="{8B770C24-3681-4117-8BF9-0BD3BDCF9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데이터 모델</a:t>
            </a:r>
          </a:p>
        </p:txBody>
      </p:sp>
      <p:sp>
        <p:nvSpPr>
          <p:cNvPr id="14" name="process-body-1">
            <a:extLst xmlns:a="http://schemas.openxmlformats.org/drawingml/2006/main">
              <a:ext uri="{FF2B5EF4-FFF2-40B4-BE49-F238E27FC236}">
                <a16:creationId xmlns:a16="http://schemas.microsoft.com/office/drawing/2014/main" id="{22EF312D-8554-4433-A7A7-88714E77C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D1·마이그레이션</a:t>
            </a:r>
          </a:p>
        </p:txBody>
      </p:sp>
      <p:sp>
        <p:nvSpPr>
          <p:cNvPr id="15" name="process-dot-2">
            <a:extLst xmlns:a="http://schemas.openxmlformats.org/drawingml/2006/main">
              <a:ext uri="{FF2B5EF4-FFF2-40B4-BE49-F238E27FC236}">
                <a16:creationId xmlns:a16="http://schemas.microsoft.com/office/drawing/2014/main" id="{AEF14CBB-5947-4C75-BCCF-474D38E6A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6" name="process-index-2">
            <a:extLst xmlns:a="http://schemas.openxmlformats.org/drawingml/2006/main">
              <a:ext uri="{FF2B5EF4-FFF2-40B4-BE49-F238E27FC236}">
                <a16:creationId xmlns:a16="http://schemas.microsoft.com/office/drawing/2014/main" id="{6DF5274C-27C5-4B23-B54B-A91A7B67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3</a:t>
            </a:r>
          </a:p>
        </p:txBody>
      </p:sp>
      <p:sp>
        <p:nvSpPr>
          <p:cNvPr id="17" name="process-title-2">
            <a:extLst xmlns:a="http://schemas.openxmlformats.org/drawingml/2006/main">
              <a:ext uri="{FF2B5EF4-FFF2-40B4-BE49-F238E27FC236}">
                <a16:creationId xmlns:a16="http://schemas.microsoft.com/office/drawing/2014/main" id="{B13D099C-1989-447D-BE40-E48CCCC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UI·API</a:t>
            </a:r>
          </a:p>
        </p:txBody>
      </p:sp>
      <p:sp>
        <p:nvSpPr>
          <p:cNvPr id="18" name="process-body-2">
            <a:extLst xmlns:a="http://schemas.openxmlformats.org/drawingml/2006/main">
              <a:ext uri="{FF2B5EF4-FFF2-40B4-BE49-F238E27FC236}">
                <a16:creationId xmlns:a16="http://schemas.microsoft.com/office/drawing/2014/main" id="{8726F315-1564-4167-BCED-87F966A15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신청·조회·관리</a:t>
            </a:r>
          </a:p>
        </p:txBody>
      </p:sp>
      <p:sp>
        <p:nvSpPr>
          <p:cNvPr id="19" name="process-dot-3">
            <a:extLst xmlns:a="http://schemas.openxmlformats.org/drawingml/2006/main">
              <a:ext uri="{FF2B5EF4-FFF2-40B4-BE49-F238E27FC236}">
                <a16:creationId xmlns:a16="http://schemas.microsoft.com/office/drawing/2014/main" id="{BA725B28-D3B0-4B4C-9312-F1F506DC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20" name="process-index-3">
            <a:extLst xmlns:a="http://schemas.openxmlformats.org/drawingml/2006/main">
              <a:ext uri="{FF2B5EF4-FFF2-40B4-BE49-F238E27FC236}">
                <a16:creationId xmlns:a16="http://schemas.microsoft.com/office/drawing/2014/main" id="{326894B4-6349-4F85-8D97-06875316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4</a:t>
            </a:r>
          </a:p>
        </p:txBody>
      </p:sp>
      <p:sp>
        <p:nvSpPr>
          <p:cNvPr id="21" name="process-title-3">
            <a:extLst xmlns:a="http://schemas.openxmlformats.org/drawingml/2006/main">
              <a:ext uri="{FF2B5EF4-FFF2-40B4-BE49-F238E27FC236}">
                <a16:creationId xmlns:a16="http://schemas.microsoft.com/office/drawing/2014/main" id="{B9CDF286-EC0B-49C6-B198-BE5E4814F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보안</a:t>
            </a:r>
          </a:p>
        </p:txBody>
      </p:sp>
      <p:sp>
        <p:nvSpPr>
          <p:cNvPr id="22" name="process-body-3">
            <a:extLst xmlns:a="http://schemas.openxmlformats.org/drawingml/2006/main">
              <a:ext uri="{FF2B5EF4-FFF2-40B4-BE49-F238E27FC236}">
                <a16:creationId xmlns:a16="http://schemas.microsoft.com/office/drawing/2014/main" id="{001F28E8-3932-4E1E-B810-8716A9413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세션·해시·속도 제한</a:t>
            </a:r>
          </a:p>
        </p:txBody>
      </p:sp>
      <p:sp>
        <p:nvSpPr>
          <p:cNvPr id="23" name="process-dot-4">
            <a:extLst xmlns:a="http://schemas.openxmlformats.org/drawingml/2006/main">
              <a:ext uri="{FF2B5EF4-FFF2-40B4-BE49-F238E27FC236}">
                <a16:creationId xmlns:a16="http://schemas.microsoft.com/office/drawing/2014/main" id="{9AF0CF57-FFE4-497E-8EFF-69535A120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24" name="process-index-4">
            <a:extLst xmlns:a="http://schemas.openxmlformats.org/drawingml/2006/main">
              <a:ext uri="{FF2B5EF4-FFF2-40B4-BE49-F238E27FC236}">
                <a16:creationId xmlns:a16="http://schemas.microsoft.com/office/drawing/2014/main" id="{93A4A58C-16DF-456E-B8EE-ED32639E3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5</a:t>
            </a:r>
          </a:p>
        </p:txBody>
      </p:sp>
      <p:sp>
        <p:nvSpPr>
          <p:cNvPr id="25" name="process-title-4">
            <a:extLst xmlns:a="http://schemas.openxmlformats.org/drawingml/2006/main">
              <a:ext uri="{FF2B5EF4-FFF2-40B4-BE49-F238E27FC236}">
                <a16:creationId xmlns:a16="http://schemas.microsoft.com/office/drawing/2014/main" id="{4D98D4FB-1436-4207-8651-F552C5852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검증</a:t>
            </a:r>
          </a:p>
        </p:txBody>
      </p:sp>
      <p:sp>
        <p:nvSpPr>
          <p:cNvPr id="26" name="process-body-4">
            <a:extLst xmlns:a="http://schemas.openxmlformats.org/drawingml/2006/main">
              <a:ext uri="{FF2B5EF4-FFF2-40B4-BE49-F238E27FC236}">
                <a16:creationId xmlns:a16="http://schemas.microsoft.com/office/drawing/2014/main" id="{C7985C77-B118-472D-9681-630D43EDA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lint·build·tests</a:t>
            </a:r>
          </a:p>
        </p:txBody>
      </p:sp>
      <p:sp>
        <p:nvSpPr>
          <p:cNvPr id="27" name="process-dot-5">
            <a:extLst xmlns:a="http://schemas.openxmlformats.org/drawingml/2006/main">
              <a:ext uri="{FF2B5EF4-FFF2-40B4-BE49-F238E27FC236}">
                <a16:creationId xmlns:a16="http://schemas.microsoft.com/office/drawing/2014/main" id="{374F8459-AE3B-4A23-81F7-15B31D5C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09875"/>
            <a:ext cx="323850" cy="3238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CFC3"/>
          </a:solidFill>
          <a:ln xmlns:a="http://schemas.openxmlformats.org/drawingml/2006/main" w="0">
            <a:solidFill>
              <a:srgbClr val="17CFC3"/>
            </a:solidFill>
            <a:prstDash val="solid"/>
          </a:ln>
        </p:spPr>
      </p:sp>
      <p:sp>
        <p:nvSpPr>
          <p:cNvPr id="28" name="process-index-5">
            <a:extLst xmlns:a="http://schemas.openxmlformats.org/drawingml/2006/main">
              <a:ext uri="{FF2B5EF4-FFF2-40B4-BE49-F238E27FC236}">
                <a16:creationId xmlns:a16="http://schemas.microsoft.com/office/drawing/2014/main" id="{1C7132F5-DAFC-433D-975C-CD827A73F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67950" y="2857500"/>
            <a:ext cx="3238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6</a:t>
            </a:r>
          </a:p>
        </p:txBody>
      </p:sp>
      <p:sp>
        <p:nvSpPr>
          <p:cNvPr id="29" name="process-title-5">
            <a:extLst xmlns:a="http://schemas.openxmlformats.org/drawingml/2006/main">
              <a:ext uri="{FF2B5EF4-FFF2-40B4-BE49-F238E27FC236}">
                <a16:creationId xmlns:a16="http://schemas.microsoft.com/office/drawing/2014/main" id="{CE511BBB-6CC1-46A3-BD05-4873E8688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390900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배포·운영</a:t>
            </a:r>
          </a:p>
        </p:txBody>
      </p:sp>
      <p:sp>
        <p:nvSpPr>
          <p:cNvPr id="30" name="process-body-5">
            <a:extLst xmlns:a="http://schemas.openxmlformats.org/drawingml/2006/main">
              <a:ext uri="{FF2B5EF4-FFF2-40B4-BE49-F238E27FC236}">
                <a16:creationId xmlns:a16="http://schemas.microsoft.com/office/drawing/2014/main" id="{4B689593-9740-411D-82C2-7FC7C0298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0000"/>
            <a:ext cx="1581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Workers·백업·복구</a:t>
            </a:r>
          </a:p>
        </p:txBody>
      </p:sp>
      <p:sp>
        <p:nvSpPr>
          <p:cNvPr id="31" name="process-takeaway">
            <a:extLst xmlns:a="http://schemas.openxmlformats.org/drawingml/2006/main">
              <a:ext uri="{FF2B5EF4-FFF2-40B4-BE49-F238E27FC236}">
                <a16:creationId xmlns:a16="http://schemas.microsoft.com/office/drawing/2014/main" id="{A6325D01-AF0E-415B-9D32-A79230B60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914900"/>
            <a:ext cx="86868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32" name="process-takeaway-text">
            <a:extLst xmlns:a="http://schemas.openxmlformats.org/drawingml/2006/main">
              <a:ext uri="{FF2B5EF4-FFF2-40B4-BE49-F238E27FC236}">
                <a16:creationId xmlns:a16="http://schemas.microsoft.com/office/drawing/2014/main" id="{E6262895-0E17-493A-9947-54F07F62C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5162550"/>
            <a:ext cx="79248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각 단계의 산출물이 다음 단계의 입력이 되도록 연결해야 재작업이 줄어든다.</a:t>
            </a:r>
          </a:p>
        </p:txBody>
      </p:sp>
    </p:spTree>
    <p:extLst>
      <p:ext uri="{BB962C8B-B14F-4D97-AF65-F5344CB8AC3E}">
        <p14:creationId xmlns:p14="http://schemas.microsoft.com/office/powerpoint/2010/main" val="10132624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kicker-4">
            <a:extLst xmlns:a="http://schemas.openxmlformats.org/drawingml/2006/main">
              <a:ext uri="{FF2B5EF4-FFF2-40B4-BE49-F238E27FC236}">
                <a16:creationId xmlns:a16="http://schemas.microsoft.com/office/drawing/2014/main" id="{E20A7A20-EADC-4125-B615-204A4054C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CD67D769-08A7-48FA-AEEF-15103C08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구조를 네 계층으로 나눠 변경의 영향 범위를 통제했다</a:t>
            </a:r>
          </a:p>
        </p:txBody>
      </p:sp>
      <p:cxnSp>
        <p:nvCxnSpPr>
          <p:cNvPr id="27" name="top-rule-4"/>
          <p:cNvCxnSpPr/>
          <p:nvPr/>
        </p:nvCxnSpPr>
        <p:spPr>
          <a:xfrm xmlns:a="http://schemas.openxmlformats.org/drawingml/2006/main">
            <a:off x="533400" y="15811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59447651-D395-4B8D-A8F3-7EEC7B9A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EA58DB8-6AE9-4844-A4C1-D6DF5EB89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cxnSp>
        <p:nvCxnSpPr>
          <p:cNvPr id="30" name="arch-arrow-1"/>
          <p:cNvCxnSpPr/>
          <p:nvPr/>
        </p:nvCxnSpPr>
        <p:spPr>
          <a:xfrm xmlns:a="http://schemas.openxmlformats.org/drawingml/2006/main">
            <a:off x="6096000" y="25146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31" name="arch-arrow-2"/>
          <p:cNvCxnSpPr/>
          <p:nvPr/>
        </p:nvCxnSpPr>
        <p:spPr>
          <a:xfrm xmlns:a="http://schemas.openxmlformats.org/drawingml/2006/main">
            <a:off x="6096000" y="36957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32" name="arch-arrow-3"/>
          <p:cNvCxnSpPr/>
          <p:nvPr/>
        </p:nvCxnSpPr>
        <p:spPr>
          <a:xfrm xmlns:a="http://schemas.openxmlformats.org/drawingml/2006/main">
            <a:off x="6096000" y="4876800"/>
            <a:ext cx="0" cy="4000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sp>
        <p:nvSpPr>
          <p:cNvPr id="9" name="arch-node-0">
            <a:extLst xmlns:a="http://schemas.openxmlformats.org/drawingml/2006/main">
              <a:ext uri="{FF2B5EF4-FFF2-40B4-BE49-F238E27FC236}">
                <a16:creationId xmlns:a16="http://schemas.microsoft.com/office/drawing/2014/main" id="{D5A3EC5E-CEE8-4D93-8C04-6F6360397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1752600"/>
            <a:ext cx="8458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0" name="arch-layer-0">
            <a:extLst xmlns:a="http://schemas.openxmlformats.org/drawingml/2006/main">
              <a:ext uri="{FF2B5EF4-FFF2-40B4-BE49-F238E27FC236}">
                <a16:creationId xmlns:a16="http://schemas.microsoft.com/office/drawing/2014/main" id="{A458A5E0-AB7A-403D-B139-E27F768DC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9240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PRESENTATION</a:t>
            </a:r>
          </a:p>
        </p:txBody>
      </p:sp>
      <p:sp>
        <p:nvSpPr>
          <p:cNvPr id="11" name="arch-path-0">
            <a:extLst xmlns:a="http://schemas.openxmlformats.org/drawingml/2006/main">
              <a:ext uri="{FF2B5EF4-FFF2-40B4-BE49-F238E27FC236}">
                <a16:creationId xmlns:a16="http://schemas.microsoft.com/office/drawing/2014/main" id="{DBB1B839-6F4A-4F43-8EEB-1C01761B9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9240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app/ · components/</a:t>
            </a:r>
          </a:p>
        </p:txBody>
      </p:sp>
      <p:sp>
        <p:nvSpPr>
          <p:cNvPr id="12" name="arch-desc-0">
            <a:extLst xmlns:a="http://schemas.openxmlformats.org/drawingml/2006/main">
              <a:ext uri="{FF2B5EF4-FFF2-40B4-BE49-F238E27FC236}">
                <a16:creationId xmlns:a16="http://schemas.microsoft.com/office/drawing/2014/main" id="{43A0C2DC-9DC6-47EE-B008-67BA9B368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9240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고객 화면과 관리자 UI</a:t>
            </a:r>
          </a:p>
        </p:txBody>
      </p:sp>
      <p:sp>
        <p:nvSpPr>
          <p:cNvPr id="13" name="arch-node-1">
            <a:extLst xmlns:a="http://schemas.openxmlformats.org/drawingml/2006/main">
              <a:ext uri="{FF2B5EF4-FFF2-40B4-BE49-F238E27FC236}">
                <a16:creationId xmlns:a16="http://schemas.microsoft.com/office/drawing/2014/main" id="{ED5268C7-E64E-4196-9E9C-E8192DDA5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933700"/>
            <a:ext cx="8458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4" name="arch-layer-1">
            <a:extLst xmlns:a="http://schemas.openxmlformats.org/drawingml/2006/main">
              <a:ext uri="{FF2B5EF4-FFF2-40B4-BE49-F238E27FC236}">
                <a16:creationId xmlns:a16="http://schemas.microsoft.com/office/drawing/2014/main" id="{3D43794B-D042-44BD-91BD-C28AAC264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051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LOGIC</a:t>
            </a:r>
          </a:p>
        </p:txBody>
      </p:sp>
      <p:sp>
        <p:nvSpPr>
          <p:cNvPr id="15" name="arch-path-1">
            <a:extLst xmlns:a="http://schemas.openxmlformats.org/drawingml/2006/main">
              <a:ext uri="{FF2B5EF4-FFF2-40B4-BE49-F238E27FC236}">
                <a16:creationId xmlns:a16="http://schemas.microsoft.com/office/drawing/2014/main" id="{9299A62F-D4D6-4FA1-AFD7-1AE5D3DED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1051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lib/logic/ · lib/security/</a:t>
            </a:r>
          </a:p>
        </p:txBody>
      </p:sp>
      <p:sp>
        <p:nvSpPr>
          <p:cNvPr id="16" name="arch-desc-1">
            <a:extLst xmlns:a="http://schemas.openxmlformats.org/drawingml/2006/main">
              <a:ext uri="{FF2B5EF4-FFF2-40B4-BE49-F238E27FC236}">
                <a16:creationId xmlns:a16="http://schemas.microsoft.com/office/drawing/2014/main" id="{FAAE1F96-6808-4773-BF35-6122887A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업무 규칙과 인증 정책</a:t>
            </a:r>
          </a:p>
        </p:txBody>
      </p:sp>
      <p:sp>
        <p:nvSpPr>
          <p:cNvPr id="17" name="arch-node-2">
            <a:extLst xmlns:a="http://schemas.openxmlformats.org/drawingml/2006/main">
              <a:ext uri="{FF2B5EF4-FFF2-40B4-BE49-F238E27FC236}">
                <a16:creationId xmlns:a16="http://schemas.microsoft.com/office/drawing/2014/main" id="{81D9125B-6A6E-4D2D-A7B7-1E0F08F82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4114800"/>
            <a:ext cx="8458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8" name="arch-layer-2">
            <a:extLst xmlns:a="http://schemas.openxmlformats.org/drawingml/2006/main">
              <a:ext uri="{FF2B5EF4-FFF2-40B4-BE49-F238E27FC236}">
                <a16:creationId xmlns:a16="http://schemas.microsoft.com/office/drawing/2014/main" id="{4D6BF0A4-D3E4-4AF1-BA3B-09B0AC7A9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2862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DATA</a:t>
            </a:r>
          </a:p>
        </p:txBody>
      </p:sp>
      <p:sp>
        <p:nvSpPr>
          <p:cNvPr id="19" name="arch-path-2">
            <a:extLst xmlns:a="http://schemas.openxmlformats.org/drawingml/2006/main">
              <a:ext uri="{FF2B5EF4-FFF2-40B4-BE49-F238E27FC236}">
                <a16:creationId xmlns:a16="http://schemas.microsoft.com/office/drawing/2014/main" id="{803B1900-1E45-4B96-AAB9-04803C34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2862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data/ · db/ · drizzle/</a:t>
            </a:r>
          </a:p>
        </p:txBody>
      </p:sp>
      <p:sp>
        <p:nvSpPr>
          <p:cNvPr id="20" name="arch-desc-2">
            <a:extLst xmlns:a="http://schemas.openxmlformats.org/drawingml/2006/main">
              <a:ext uri="{FF2B5EF4-FFF2-40B4-BE49-F238E27FC236}">
                <a16:creationId xmlns:a16="http://schemas.microsoft.com/office/drawing/2014/main" id="{35509BA8-AB2E-4ABA-857F-D3FBF936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862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조회·저장·스키마 진화</a:t>
            </a:r>
          </a:p>
        </p:txBody>
      </p:sp>
      <p:sp>
        <p:nvSpPr>
          <p:cNvPr id="21" name="arch-node-3">
            <a:extLst xmlns:a="http://schemas.openxmlformats.org/drawingml/2006/main">
              <a:ext uri="{FF2B5EF4-FFF2-40B4-BE49-F238E27FC236}">
                <a16:creationId xmlns:a16="http://schemas.microsoft.com/office/drawing/2014/main" id="{595BEA50-8FD2-441D-8B9B-DC529056A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295900"/>
            <a:ext cx="8458200" cy="85725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22" name="arch-layer-3">
            <a:extLst xmlns:a="http://schemas.openxmlformats.org/drawingml/2006/main">
              <a:ext uri="{FF2B5EF4-FFF2-40B4-BE49-F238E27FC236}">
                <a16:creationId xmlns:a16="http://schemas.microsoft.com/office/drawing/2014/main" id="{F6F3DFBE-8BBB-4D63-849A-DE0450F98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4673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INFRASTRUCTURE</a:t>
            </a:r>
          </a:p>
        </p:txBody>
      </p:sp>
      <p:sp>
        <p:nvSpPr>
          <p:cNvPr id="23" name="arch-path-3">
            <a:extLst xmlns:a="http://schemas.openxmlformats.org/drawingml/2006/main">
              <a:ext uri="{FF2B5EF4-FFF2-40B4-BE49-F238E27FC236}">
                <a16:creationId xmlns:a16="http://schemas.microsoft.com/office/drawing/2014/main" id="{731B5C67-0821-4160-995D-447A1FB52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46735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worker/ · infrastructure/</a:t>
            </a:r>
          </a:p>
        </p:txBody>
      </p:sp>
      <p:sp>
        <p:nvSpPr>
          <p:cNvPr id="24" name="arch-desc-3">
            <a:extLst xmlns:a="http://schemas.openxmlformats.org/drawingml/2006/main">
              <a:ext uri="{FF2B5EF4-FFF2-40B4-BE49-F238E27FC236}">
                <a16:creationId xmlns:a16="http://schemas.microsoft.com/office/drawing/2014/main" id="{D1EC26C3-E66D-4D81-9476-7C3D1E7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2800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Workers·Telegram·R2</a:t>
            </a:r>
          </a:p>
        </p:txBody>
      </p:sp>
    </p:spTree>
    <p:extLst>
      <p:ext uri="{BB962C8B-B14F-4D97-AF65-F5344CB8AC3E}">
        <p14:creationId xmlns:p14="http://schemas.microsoft.com/office/powerpoint/2010/main" val="4054133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5">
            <a:extLst xmlns:a="http://schemas.openxmlformats.org/drawingml/2006/main">
              <a:ext uri="{FF2B5EF4-FFF2-40B4-BE49-F238E27FC236}">
                <a16:creationId xmlns:a16="http://schemas.microsoft.com/office/drawing/2014/main" id="{932B3FAE-ACF4-47A8-9545-12B11A2F3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6F179DC7-943D-4A52-B17A-2CAAFA1E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접수 기능은 ‘공개하지 않는 조회’에서 출발했다</a:t>
            </a:r>
          </a:p>
        </p:txBody>
      </p:sp>
      <p:cxnSp>
        <p:nvCxnSpPr>
          <p:cNvPr id="25" name="top-rule-5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94508E32-373C-4939-B9A7-005B4AF2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D6172845-52AC-4EAC-A496-4A92F3376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cxnSp>
        <p:nvCxnSpPr>
          <p:cNvPr id="28" name="secure-flow-1"/>
          <p:cNvCxnSpPr/>
          <p:nvPr/>
        </p:nvCxnSpPr>
        <p:spPr>
          <a:xfrm xmlns:a="http://schemas.openxmlformats.org/drawingml/2006/main">
            <a:off x="2647950" y="302895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29" name="secure-flow-2"/>
          <p:cNvCxnSpPr/>
          <p:nvPr/>
        </p:nvCxnSpPr>
        <p:spPr>
          <a:xfrm xmlns:a="http://schemas.openxmlformats.org/drawingml/2006/main">
            <a:off x="5429250" y="302895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30" name="secure-flow-3"/>
          <p:cNvCxnSpPr/>
          <p:nvPr/>
        </p:nvCxnSpPr>
        <p:spPr>
          <a:xfrm xmlns:a="http://schemas.openxmlformats.org/drawingml/2006/main">
            <a:off x="8210550" y="302895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sp>
        <p:nvSpPr>
          <p:cNvPr id="9" name="secure-node-0">
            <a:extLst xmlns:a="http://schemas.openxmlformats.org/drawingml/2006/main">
              <a:ext uri="{FF2B5EF4-FFF2-40B4-BE49-F238E27FC236}">
                <a16:creationId xmlns:a16="http://schemas.microsoft.com/office/drawing/2014/main" id="{9EE1F040-9434-4EA0-A71A-6C7FDF2B7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0" name="secure-node-title-0">
            <a:extLst xmlns:a="http://schemas.openxmlformats.org/drawingml/2006/main">
              <a:ext uri="{FF2B5EF4-FFF2-40B4-BE49-F238E27FC236}">
                <a16:creationId xmlns:a16="http://schemas.microsoft.com/office/drawing/2014/main" id="{C834C108-BA4C-4298-B1F1-E5C53044C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고객 입력</a:t>
            </a:r>
          </a:p>
        </p:txBody>
      </p:sp>
      <p:sp>
        <p:nvSpPr>
          <p:cNvPr id="11" name="secure-node-body-0">
            <a:extLst xmlns:a="http://schemas.openxmlformats.org/drawingml/2006/main">
              <a:ext uri="{FF2B5EF4-FFF2-40B4-BE49-F238E27FC236}">
                <a16:creationId xmlns:a16="http://schemas.microsoft.com/office/drawing/2014/main" id="{4AC80211-11BD-4D6C-8648-C33333074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연락처·주소·증상</a:t>
            </a:r>
          </a:p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신청 비밀번호</a:t>
            </a:r>
          </a:p>
        </p:txBody>
      </p:sp>
      <p:sp>
        <p:nvSpPr>
          <p:cNvPr id="12" name="secure-node-1">
            <a:extLst xmlns:a="http://schemas.openxmlformats.org/drawingml/2006/main">
              <a:ext uri="{FF2B5EF4-FFF2-40B4-BE49-F238E27FC236}">
                <a16:creationId xmlns:a16="http://schemas.microsoft.com/office/drawing/2014/main" id="{A357E2C0-E05E-442B-94CF-E96C348AE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26695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3" name="secure-node-title-1">
            <a:extLst xmlns:a="http://schemas.openxmlformats.org/drawingml/2006/main">
              <a:ext uri="{FF2B5EF4-FFF2-40B4-BE49-F238E27FC236}">
                <a16:creationId xmlns:a16="http://schemas.microsoft.com/office/drawing/2014/main" id="{A6BEE264-A2BC-4292-BC0E-5410CE568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5146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서버 검증</a:t>
            </a:r>
          </a:p>
        </p:txBody>
      </p:sp>
      <p:sp>
        <p:nvSpPr>
          <p:cNvPr id="14" name="secure-node-body-1">
            <a:extLst xmlns:a="http://schemas.openxmlformats.org/drawingml/2006/main">
              <a:ext uri="{FF2B5EF4-FFF2-40B4-BE49-F238E27FC236}">
                <a16:creationId xmlns:a16="http://schemas.microsoft.com/office/drawing/2014/main" id="{6DADAC96-AAF6-46DA-AA76-F7C225EC3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0099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정규화·속도 제한</a:t>
            </a:r>
          </a:p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동일 출처 검사</a:t>
            </a:r>
          </a:p>
        </p:txBody>
      </p:sp>
      <p:sp>
        <p:nvSpPr>
          <p:cNvPr id="15" name="secure-node-2">
            <a:extLst xmlns:a="http://schemas.openxmlformats.org/drawingml/2006/main">
              <a:ext uri="{FF2B5EF4-FFF2-40B4-BE49-F238E27FC236}">
                <a16:creationId xmlns:a16="http://schemas.microsoft.com/office/drawing/2014/main" id="{B1E1208F-62A5-4FB8-B56B-96EA0066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6695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16" name="secure-node-title-2">
            <a:extLst xmlns:a="http://schemas.openxmlformats.org/drawingml/2006/main">
              <a:ext uri="{FF2B5EF4-FFF2-40B4-BE49-F238E27FC236}">
                <a16:creationId xmlns:a16="http://schemas.microsoft.com/office/drawing/2014/main" id="{C459C2B3-FB20-42AB-8436-7D624C6B6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5146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D1 저장</a:t>
            </a:r>
          </a:p>
        </p:txBody>
      </p:sp>
      <p:sp>
        <p:nvSpPr>
          <p:cNvPr id="17" name="secure-node-body-2">
            <a:extLst xmlns:a="http://schemas.openxmlformats.org/drawingml/2006/main">
              <a:ext uri="{FF2B5EF4-FFF2-40B4-BE49-F238E27FC236}">
                <a16:creationId xmlns:a16="http://schemas.microsoft.com/office/drawing/2014/main" id="{F85633F9-0E70-4FBC-9D26-02C76D0C2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0099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민감정보 비공개</a:t>
            </a:r>
          </a:p>
          <a:p xmlns:a="http://schemas.openxmlformats.org/drawingml/2006/main">
            <a:pPr algn="ctr">
              <a:def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해시·고정 접수번호</a:t>
            </a:r>
          </a:p>
        </p:txBody>
      </p:sp>
      <p:sp>
        <p:nvSpPr>
          <p:cNvPr id="18" name="secure-node-3">
            <a:extLst xmlns:a="http://schemas.openxmlformats.org/drawingml/2006/main">
              <a:ext uri="{FF2B5EF4-FFF2-40B4-BE49-F238E27FC236}">
                <a16:creationId xmlns:a16="http://schemas.microsoft.com/office/drawing/2014/main" id="{DB52A7FB-3EE7-4891-9BA4-09037E358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266950"/>
            <a:ext cx="2266950" cy="156210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9" name="secure-node-title-3">
            <a:extLst xmlns:a="http://schemas.openxmlformats.org/drawingml/2006/main">
              <a:ext uri="{FF2B5EF4-FFF2-40B4-BE49-F238E27FC236}">
                <a16:creationId xmlns:a16="http://schemas.microsoft.com/office/drawing/2014/main" id="{D8C6B3D2-6FB4-4AB2-9878-42E322955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14600"/>
            <a:ext cx="1847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개인 조회</a:t>
            </a:r>
          </a:p>
        </p:txBody>
      </p:sp>
      <p:sp>
        <p:nvSpPr>
          <p:cNvPr id="20" name="secure-node-body-3">
            <a:extLst xmlns:a="http://schemas.openxmlformats.org/drawingml/2006/main">
              <a:ext uri="{FF2B5EF4-FFF2-40B4-BE49-F238E27FC236}">
                <a16:creationId xmlns:a16="http://schemas.microsoft.com/office/drawing/2014/main" id="{82324B41-8BE0-46CB-833B-2116BE9F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18478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휴대전화+비밀번호</a:t>
            </a:r>
          </a:p>
          <a:p xmlns:a="http://schemas.openxmlformats.org/drawingml/2006/main">
            <a:pPr algn="ctr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10분 조회 세션</a:t>
            </a:r>
          </a:p>
        </p:txBody>
      </p:sp>
      <p:sp>
        <p:nvSpPr>
          <p:cNvPr id="21" name="secure-principles-title">
            <a:extLst xmlns:a="http://schemas.openxmlformats.org/drawingml/2006/main">
              <a:ext uri="{FF2B5EF4-FFF2-40B4-BE49-F238E27FC236}">
                <a16:creationId xmlns:a16="http://schemas.microsoft.com/office/drawing/2014/main" id="{71AD6C99-2F58-44DA-BC4D-71E2D6B16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설계 원칙</a:t>
            </a:r>
          </a:p>
        </p:txBody>
      </p:sp>
      <p:sp>
        <p:nvSpPr>
          <p:cNvPr id="22" name="secure-principles">
            <a:extLst xmlns:a="http://schemas.openxmlformats.org/drawingml/2006/main">
              <a:ext uri="{FF2B5EF4-FFF2-40B4-BE49-F238E27FC236}">
                <a16:creationId xmlns:a16="http://schemas.microsoft.com/office/drawing/2014/main" id="{AF79152C-7740-48B5-AD75-5F671552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400550"/>
            <a:ext cx="7620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01  공개 목록을 만들지 않는다</a:t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02  서버에서 입력을 다시 검증한다</a:t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03  세션과 접근 실패를 짧게 제한한다</a:t>
            </a:r>
          </a:p>
        </p:txBody>
      </p:sp>
    </p:spTree>
    <p:extLst>
      <p:ext uri="{BB962C8B-B14F-4D97-AF65-F5344CB8AC3E}">
        <p14:creationId xmlns:p14="http://schemas.microsoft.com/office/powerpoint/2010/main" val="110005575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6">
            <a:extLst xmlns:a="http://schemas.openxmlformats.org/drawingml/2006/main">
              <a:ext uri="{FF2B5EF4-FFF2-40B4-BE49-F238E27FC236}">
                <a16:creationId xmlns:a16="http://schemas.microsoft.com/office/drawing/2014/main" id="{D259F82D-C35E-445E-B365-015642858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98DF5291-9C5E-459E-818E-2A40A29DC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관리 화면은 ‘운영자 1명’에서 ‘직원별 배정 운영’으로 확장됐다</a:t>
            </a:r>
          </a:p>
        </p:txBody>
      </p:sp>
      <p:cxnSp>
        <p:nvCxnSpPr>
          <p:cNvPr id="15" name="top-rule-6"/>
          <p:cNvCxnSpPr/>
          <p:nvPr/>
        </p:nvCxnSpPr>
        <p:spPr>
          <a:xfrm xmlns:a="http://schemas.openxmlformats.org/drawingml/2006/main">
            <a:off x="533400" y="15811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5542DCF4-D345-4DC2-989A-BD7B3E366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ECC0162C-EC65-41C7-9DAD-80323777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6" name="before-label">
            <a:extLst xmlns:a="http://schemas.openxmlformats.org/drawingml/2006/main">
              <a:ext uri="{FF2B5EF4-FFF2-40B4-BE49-F238E27FC236}">
                <a16:creationId xmlns:a16="http://schemas.microsoft.com/office/drawing/2014/main" id="{19F8951B-BA3F-4E36-A7CB-39369BB82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초기 운영</a:t>
            </a:r>
          </a:p>
        </p:txBody>
      </p:sp>
      <p:sp>
        <p:nvSpPr>
          <p:cNvPr id="7" name="after-label">
            <a:extLst xmlns:a="http://schemas.openxmlformats.org/drawingml/2006/main">
              <a:ext uri="{FF2B5EF4-FFF2-40B4-BE49-F238E27FC236}">
                <a16:creationId xmlns:a16="http://schemas.microsoft.com/office/drawing/2014/main" id="{CC70A0CC-CE0A-4265-A1D2-6D01417F8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7907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확장된 운영</a:t>
            </a:r>
          </a:p>
        </p:txBody>
      </p:sp>
      <p:sp>
        <p:nvSpPr>
          <p:cNvPr id="8" name="before-panel">
            <a:extLst xmlns:a="http://schemas.openxmlformats.org/drawingml/2006/main">
              <a:ext uri="{FF2B5EF4-FFF2-40B4-BE49-F238E27FC236}">
                <a16:creationId xmlns:a16="http://schemas.microsoft.com/office/drawing/2014/main" id="{3B821E08-6C3F-4BF1-BD7D-D21A3B1F4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66950"/>
            <a:ext cx="4953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9" name="after-panel">
            <a:extLst xmlns:a="http://schemas.openxmlformats.org/drawingml/2006/main">
              <a:ext uri="{FF2B5EF4-FFF2-40B4-BE49-F238E27FC236}">
                <a16:creationId xmlns:a16="http://schemas.microsoft.com/office/drawing/2014/main" id="{5C74C2E2-8236-4DD7-B7F2-E074D587A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266950"/>
            <a:ext cx="4953000" cy="3200400"/>
          </a:xfrm>
          <a:prstGeom xmlns:a="http://schemas.openxmlformats.org/drawingml/2006/main" prst="roundRect">
            <a:avLst>
              <a:gd name="adj" fmla="val 357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26BFF"/>
            </a:solidFill>
            <a:prstDash val="solid"/>
          </a:ln>
        </p:spPr>
      </p:sp>
      <p:sp>
        <p:nvSpPr>
          <p:cNvPr id="10" name="before-list">
            <a:extLst xmlns:a="http://schemas.openxmlformats.org/drawingml/2006/main">
              <a:ext uri="{FF2B5EF4-FFF2-40B4-BE49-F238E27FC236}">
                <a16:creationId xmlns:a16="http://schemas.microsoft.com/office/drawing/2014/main" id="{5ACCBB62-DD37-4B4F-8D8B-62616A00C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628900"/>
            <a:ext cx="41910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비밀번호만 입력</a:t>
            </a:r>
          </a:p>
          <a:p xmlns:a="http://schemas.openxmlformats.org/drawingml/2006/main">
            <a:pPr algn="l">
              <a:def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담당자 이름을 자유 입력</a:t>
            </a:r>
          </a:p>
          <a:p xmlns:a="http://schemas.openxmlformats.org/drawingml/2006/main">
            <a:pPr algn="l">
              <a:def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모든 접수를 한 화면에서 조회</a:t>
            </a:r>
          </a:p>
          <a:p xmlns:a="http://schemas.openxmlformats.org/drawingml/2006/main">
            <a:pPr algn="l">
              <a:def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데스크톱 표 중심</a:t>
            </a:r>
          </a:p>
        </p:txBody>
      </p:sp>
      <p:sp>
        <p:nvSpPr>
          <p:cNvPr id="11" name="after-list">
            <a:extLst xmlns:a="http://schemas.openxmlformats.org/drawingml/2006/main">
              <a:ext uri="{FF2B5EF4-FFF2-40B4-BE49-F238E27FC236}">
                <a16:creationId xmlns:a16="http://schemas.microsoft.com/office/drawing/2014/main" id="{62737C98-CE79-4710-BA8A-EA409B21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628900"/>
            <a:ext cx="4229100" cy="2190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ID + PW 통합 로그인</a:t>
            </a:r>
          </a:p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운영자가 직원 계정 생성·차단</a:t>
            </a:r>
          </a:p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직원은 배정된 신청만 조회</a:t>
            </a:r>
          </a:p>
          <a:p xmlns:a="http://schemas.openxmlformats.org/drawingml/2006/main">
            <a:pPr algn="l">
              <a:def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모바일 카드·전화·SMS 지원</a:t>
            </a:r>
          </a:p>
        </p:txBody>
      </p:sp>
      <p:sp>
        <p:nvSpPr>
          <p:cNvPr id="12" name="after-impact">
            <a:extLst xmlns:a="http://schemas.openxmlformats.org/drawingml/2006/main">
              <a:ext uri="{FF2B5EF4-FFF2-40B4-BE49-F238E27FC236}">
                <a16:creationId xmlns:a16="http://schemas.microsoft.com/office/drawing/2014/main" id="{250F6834-C7F2-422B-9A27-9A229997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791200"/>
            <a:ext cx="971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권한이 UI가 아니라 데이터 조회·상세·저장 API 전체에 적용됨</a:t>
            </a:r>
          </a:p>
        </p:txBody>
      </p:sp>
    </p:spTree>
    <p:extLst>
      <p:ext uri="{BB962C8B-B14F-4D97-AF65-F5344CB8AC3E}">
        <p14:creationId xmlns:p14="http://schemas.microsoft.com/office/powerpoint/2010/main" val="43431744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kicker-7">
            <a:extLst xmlns:a="http://schemas.openxmlformats.org/drawingml/2006/main">
              <a:ext uri="{FF2B5EF4-FFF2-40B4-BE49-F238E27FC236}">
                <a16:creationId xmlns:a16="http://schemas.microsoft.com/office/drawing/2014/main" id="{4CFF2AC7-F082-4B0E-8F62-0C9AED47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B6284E10-0603-42BC-B4E5-3CF9E85BA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main 푸시 한 번으로 검증·마이그레이션·배포를 직렬화했다</a:t>
            </a:r>
          </a:p>
        </p:txBody>
      </p:sp>
      <p:cxnSp>
        <p:nvCxnSpPr>
          <p:cNvPr id="30" name="top-rule-7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F84D9A54-39D1-402E-9B15-792D7422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C914FB25-55FE-4548-B32E-71F411F6F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cxnSp>
        <p:nvCxnSpPr>
          <p:cNvPr id="33" name="deploy-edge-0"/>
          <p:cNvCxnSpPr/>
          <p:nvPr/>
        </p:nvCxnSpPr>
        <p:spPr>
          <a:xfrm xmlns:a="http://schemas.openxmlformats.org/drawingml/2006/main">
            <a:off x="129540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cxnSp>
        <p:nvCxnSpPr>
          <p:cNvPr id="34" name="deploy-edge-1"/>
          <p:cNvCxnSpPr/>
          <p:nvPr/>
        </p:nvCxnSpPr>
        <p:spPr>
          <a:xfrm xmlns:a="http://schemas.openxmlformats.org/drawingml/2006/main">
            <a:off x="287655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cxnSp>
        <p:nvCxnSpPr>
          <p:cNvPr id="35" name="deploy-edge-2"/>
          <p:cNvCxnSpPr/>
          <p:nvPr/>
        </p:nvCxnSpPr>
        <p:spPr>
          <a:xfrm xmlns:a="http://schemas.openxmlformats.org/drawingml/2006/main">
            <a:off x="445770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cxnSp>
        <p:nvCxnSpPr>
          <p:cNvPr id="36" name="deploy-edge-3"/>
          <p:cNvCxnSpPr/>
          <p:nvPr/>
        </p:nvCxnSpPr>
        <p:spPr>
          <a:xfrm xmlns:a="http://schemas.openxmlformats.org/drawingml/2006/main">
            <a:off x="603885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cxnSp>
        <p:nvCxnSpPr>
          <p:cNvPr id="37" name="deploy-edge-4"/>
          <p:cNvCxnSpPr/>
          <p:nvPr/>
        </p:nvCxnSpPr>
        <p:spPr>
          <a:xfrm xmlns:a="http://schemas.openxmlformats.org/drawingml/2006/main">
            <a:off x="762000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cxnSp>
        <p:nvCxnSpPr>
          <p:cNvPr id="38" name="deploy-edge-5"/>
          <p:cNvCxnSpPr/>
          <p:nvPr/>
        </p:nvCxnSpPr>
        <p:spPr>
          <a:xfrm xmlns:a="http://schemas.openxmlformats.org/drawingml/2006/main">
            <a:off x="9201150" y="3181350"/>
            <a:ext cx="8382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0DA"/>
            </a:solidFill>
            <a:prstDash val="solid"/>
          </a:ln>
        </p:spPr>
      </p:cxnSp>
      <p:sp>
        <p:nvSpPr>
          <p:cNvPr id="12" name="deploy-node-0">
            <a:extLst xmlns:a="http://schemas.openxmlformats.org/drawingml/2006/main">
              <a:ext uri="{FF2B5EF4-FFF2-40B4-BE49-F238E27FC236}">
                <a16:creationId xmlns:a16="http://schemas.microsoft.com/office/drawing/2014/main" id="{C1D31AC4-9B80-4026-9CEF-CA3635B75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3" name="deploy-stage-0">
            <a:extLst xmlns:a="http://schemas.openxmlformats.org/drawingml/2006/main">
              <a:ext uri="{FF2B5EF4-FFF2-40B4-BE49-F238E27FC236}">
                <a16:creationId xmlns:a16="http://schemas.microsoft.com/office/drawing/2014/main" id="{FE769AC9-9483-4C8B-B628-8A641E723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main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push</a:t>
            </a:r>
          </a:p>
        </p:txBody>
      </p:sp>
      <p:sp>
        <p:nvSpPr>
          <p:cNvPr id="14" name="deploy-node-1">
            <a:extLst xmlns:a="http://schemas.openxmlformats.org/drawingml/2006/main">
              <a:ext uri="{FF2B5EF4-FFF2-40B4-BE49-F238E27FC236}">
                <a16:creationId xmlns:a16="http://schemas.microsoft.com/office/drawing/2014/main" id="{24A1FF66-CF1A-4726-A286-BFCEBA868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5" name="deploy-stage-1">
            <a:extLst xmlns:a="http://schemas.openxmlformats.org/drawingml/2006/main">
              <a:ext uri="{FF2B5EF4-FFF2-40B4-BE49-F238E27FC236}">
                <a16:creationId xmlns:a16="http://schemas.microsoft.com/office/drawing/2014/main" id="{C0C9D742-AE7D-4850-B393-A4FAE0C15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npm ci</a:t>
            </a:r>
          </a:p>
        </p:txBody>
      </p:sp>
      <p:sp>
        <p:nvSpPr>
          <p:cNvPr id="16" name="deploy-node-2">
            <a:extLst xmlns:a="http://schemas.openxmlformats.org/drawingml/2006/main">
              <a:ext uri="{FF2B5EF4-FFF2-40B4-BE49-F238E27FC236}">
                <a16:creationId xmlns:a16="http://schemas.microsoft.com/office/drawing/2014/main" id="{EA761520-33B9-4F28-B7FF-74546CE93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7" name="deploy-stage-2">
            <a:extLst xmlns:a="http://schemas.openxmlformats.org/drawingml/2006/main">
              <a:ext uri="{FF2B5EF4-FFF2-40B4-BE49-F238E27FC236}">
                <a16:creationId xmlns:a16="http://schemas.microsoft.com/office/drawing/2014/main" id="{0048198D-50EB-44FC-B5C4-62FEC68B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lint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types</a:t>
            </a:r>
          </a:p>
        </p:txBody>
      </p:sp>
      <p:sp>
        <p:nvSpPr>
          <p:cNvPr id="18" name="deploy-node-3">
            <a:extLst xmlns:a="http://schemas.openxmlformats.org/drawingml/2006/main">
              <a:ext uri="{FF2B5EF4-FFF2-40B4-BE49-F238E27FC236}">
                <a16:creationId xmlns:a16="http://schemas.microsoft.com/office/drawing/2014/main" id="{CE47D763-8F5D-402C-819D-434D93ABE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19" name="deploy-stage-3">
            <a:extLst xmlns:a="http://schemas.openxmlformats.org/drawingml/2006/main">
              <a:ext uri="{FF2B5EF4-FFF2-40B4-BE49-F238E27FC236}">
                <a16:creationId xmlns:a16="http://schemas.microsoft.com/office/drawing/2014/main" id="{54589197-62CE-41CC-BB23-4F5E55E13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D1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migrate</a:t>
            </a:r>
          </a:p>
        </p:txBody>
      </p:sp>
      <p:sp>
        <p:nvSpPr>
          <p:cNvPr id="20" name="deploy-node-4">
            <a:extLst xmlns:a="http://schemas.openxmlformats.org/drawingml/2006/main">
              <a:ext uri="{FF2B5EF4-FFF2-40B4-BE49-F238E27FC236}">
                <a16:creationId xmlns:a16="http://schemas.microsoft.com/office/drawing/2014/main" id="{79123CDA-4280-4FDA-BE29-D2195C4F9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1" name="deploy-stage-4">
            <a:extLst xmlns:a="http://schemas.openxmlformats.org/drawingml/2006/main">
              <a:ext uri="{FF2B5EF4-FFF2-40B4-BE49-F238E27FC236}">
                <a16:creationId xmlns:a16="http://schemas.microsoft.com/office/drawing/2014/main" id="{7E4B6453-5380-44C1-9B95-B9824F74E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build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tests</a:t>
            </a:r>
          </a:p>
        </p:txBody>
      </p:sp>
      <p:sp>
        <p:nvSpPr>
          <p:cNvPr id="22" name="deploy-node-5">
            <a:extLst xmlns:a="http://schemas.openxmlformats.org/drawingml/2006/main">
              <a:ext uri="{FF2B5EF4-FFF2-40B4-BE49-F238E27FC236}">
                <a16:creationId xmlns:a16="http://schemas.microsoft.com/office/drawing/2014/main" id="{007FA848-D94B-44B1-990E-CE4C2025B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23" name="deploy-stage-5">
            <a:extLst xmlns:a="http://schemas.openxmlformats.org/drawingml/2006/main">
              <a:ext uri="{FF2B5EF4-FFF2-40B4-BE49-F238E27FC236}">
                <a16:creationId xmlns:a16="http://schemas.microsoft.com/office/drawing/2014/main" id="{555D4BFA-E716-44B9-AE45-C0490ABDF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Wrangler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deploy</a:t>
            </a:r>
          </a:p>
        </p:txBody>
      </p:sp>
      <p:sp>
        <p:nvSpPr>
          <p:cNvPr id="24" name="deploy-node-6">
            <a:extLst xmlns:a="http://schemas.openxmlformats.org/drawingml/2006/main">
              <a:ext uri="{FF2B5EF4-FFF2-40B4-BE49-F238E27FC236}">
                <a16:creationId xmlns:a16="http://schemas.microsoft.com/office/drawing/2014/main" id="{014682CF-B332-4383-AAA8-33EE39831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2533650"/>
            <a:ext cx="1352550" cy="12954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25" name="deploy-stage-6">
            <a:extLst xmlns:a="http://schemas.openxmlformats.org/drawingml/2006/main">
              <a:ext uri="{FF2B5EF4-FFF2-40B4-BE49-F238E27FC236}">
                <a16:creationId xmlns:a16="http://schemas.microsoft.com/office/drawing/2014/main" id="{8A11D27F-7725-4D95-9A3E-B10B79F0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95600"/>
            <a:ext cx="1123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운영</a:t>
            </a:r>
          </a:p>
          <a:p xmlns:a="http://schemas.openxmlformats.org/drawingml/2006/main">
            <a:pPr algn="ctr">
              <a:defRPr sz="15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확인</a:t>
            </a:r>
          </a:p>
        </p:txBody>
      </p:sp>
      <p:sp>
        <p:nvSpPr>
          <p:cNvPr id="26" name="deploy-gate">
            <a:extLst xmlns:a="http://schemas.openxmlformats.org/drawingml/2006/main">
              <a:ext uri="{FF2B5EF4-FFF2-40B4-BE49-F238E27FC236}">
                <a16:creationId xmlns:a16="http://schemas.microsoft.com/office/drawing/2014/main" id="{58326119-1E6F-47EA-A861-E19A292FF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610100"/>
            <a:ext cx="8991600" cy="8763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FF4E1"/>
          </a:solidFill>
          <a:ln xmlns:a="http://schemas.openxmlformats.org/drawingml/2006/main" w="9525">
            <a:solidFill>
              <a:srgbClr val="E7A21A"/>
            </a:solidFill>
            <a:prstDash val="solid"/>
          </a:ln>
        </p:spPr>
      </p:sp>
      <p:sp>
        <p:nvSpPr>
          <p:cNvPr id="27" name="deploy-gate-text">
            <a:extLst xmlns:a="http://schemas.openxmlformats.org/drawingml/2006/main">
              <a:ext uri="{FF2B5EF4-FFF2-40B4-BE49-F238E27FC236}">
                <a16:creationId xmlns:a16="http://schemas.microsoft.com/office/drawing/2014/main" id="{B50FA8E0-453D-47D0-95E9-4C5DBC99F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867275"/>
            <a:ext cx="8267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검사나 마이그레이션이 실패하면 Worker 배포 단계에 도달하지 않는다.</a:t>
            </a:r>
          </a:p>
        </p:txBody>
      </p:sp>
    </p:spTree>
    <p:extLst>
      <p:ext uri="{BB962C8B-B14F-4D97-AF65-F5344CB8AC3E}">
        <p14:creationId xmlns:p14="http://schemas.microsoft.com/office/powerpoint/2010/main" val="30946267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kicker-8">
            <a:extLst xmlns:a="http://schemas.openxmlformats.org/drawingml/2006/main">
              <a:ext uri="{FF2B5EF4-FFF2-40B4-BE49-F238E27FC236}">
                <a16:creationId xmlns:a16="http://schemas.microsoft.com/office/drawing/2014/main" id="{D6BCF7A5-53C6-408E-83FF-45E912240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TRIAL &amp; ERROR · SECURITY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B27AB37D-E8FE-4BA7-8290-094F31F3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Trial 1 — Cloudflare CPU 한계가 비밀번호 해싱 방식을 바꿨다</a:t>
            </a:r>
          </a:p>
        </p:txBody>
      </p:sp>
      <p:cxnSp>
        <p:nvCxnSpPr>
          <p:cNvPr id="20" name="top-rule-8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62169540-D303-4BC3-BBE1-DE090948D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6934DA51-818D-4178-B6C0-B0B735A8C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6" name="step-num-1-72">
            <a:extLst xmlns:a="http://schemas.openxmlformats.org/drawingml/2006/main">
              <a:ext uri="{FF2B5EF4-FFF2-40B4-BE49-F238E27FC236}">
                <a16:creationId xmlns:a16="http://schemas.microsoft.com/office/drawing/2014/main" id="{5DECD029-6472-4C94-A142-61E66E872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7" name="step-title-1-72">
            <a:extLst xmlns:a="http://schemas.openxmlformats.org/drawingml/2006/main">
              <a:ext uri="{FF2B5EF4-FFF2-40B4-BE49-F238E27FC236}">
                <a16:creationId xmlns:a16="http://schemas.microsoft.com/office/drawing/2014/main" id="{0CA7F9EE-9C7C-40DD-9BC3-C6A3B1CA2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240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Argon2id 적용</a:t>
            </a:r>
          </a:p>
        </p:txBody>
      </p:sp>
      <p:sp>
        <p:nvSpPr>
          <p:cNvPr id="8" name="step-body-1-72">
            <a:extLst xmlns:a="http://schemas.openxmlformats.org/drawingml/2006/main">
              <a:ext uri="{FF2B5EF4-FFF2-40B4-BE49-F238E27FC236}">
                <a16:creationId xmlns:a16="http://schemas.microsoft.com/office/drawing/2014/main" id="{A01E5769-0F29-42EB-A4E3-99503878A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05050"/>
            <a:ext cx="4229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강한 해싱을 선택했지만 Worker CPU 예산에 맞지 않았다.</a:t>
            </a:r>
          </a:p>
        </p:txBody>
      </p:sp>
      <p:sp>
        <p:nvSpPr>
          <p:cNvPr id="9" name="step-num-2-72">
            <a:extLst xmlns:a="http://schemas.openxmlformats.org/drawingml/2006/main">
              <a:ext uri="{FF2B5EF4-FFF2-40B4-BE49-F238E27FC236}">
                <a16:creationId xmlns:a16="http://schemas.microsoft.com/office/drawing/2014/main" id="{75174A0D-E284-4697-BFDC-C61B27F51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623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E7A21A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E7A21A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0" name="step-title-2-72">
            <a:extLst xmlns:a="http://schemas.openxmlformats.org/drawingml/2006/main">
              <a:ext uri="{FF2B5EF4-FFF2-40B4-BE49-F238E27FC236}">
                <a16:creationId xmlns:a16="http://schemas.microsoft.com/office/drawing/2014/main" id="{AC7BC80D-CE8D-4694-ABBE-C5BD51EF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1623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WebCrypto PBKDF2 전환</a:t>
            </a:r>
          </a:p>
        </p:txBody>
      </p:sp>
      <p:sp>
        <p:nvSpPr>
          <p:cNvPr id="11" name="step-body-2-72">
            <a:extLst xmlns:a="http://schemas.openxmlformats.org/drawingml/2006/main">
              <a:ext uri="{FF2B5EF4-FFF2-40B4-BE49-F238E27FC236}">
                <a16:creationId xmlns:a16="http://schemas.microsoft.com/office/drawing/2014/main" id="{F84224F0-5586-467F-AEC0-AC69770B4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543300"/>
            <a:ext cx="4229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플랫폼 기본 API로 바꿔 배포 가능성과 유지보수를 확보했다.</a:t>
            </a:r>
          </a:p>
        </p:txBody>
      </p:sp>
      <p:sp>
        <p:nvSpPr>
          <p:cNvPr id="12" name="step-num-3-72">
            <a:extLst xmlns:a="http://schemas.openxmlformats.org/drawingml/2006/main">
              <a:ext uri="{FF2B5EF4-FFF2-40B4-BE49-F238E27FC236}">
                <a16:creationId xmlns:a16="http://schemas.microsoft.com/office/drawing/2014/main" id="{E6148242-4C88-4D5A-8011-05FED0A9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0055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3" name="step-title-3-72">
            <a:extLst xmlns:a="http://schemas.openxmlformats.org/drawingml/2006/main">
              <a:ext uri="{FF2B5EF4-FFF2-40B4-BE49-F238E27FC236}">
                <a16:creationId xmlns:a16="http://schemas.microsoft.com/office/drawing/2014/main" id="{14F8DF14-D902-49DD-A7EC-718DE1D02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반복 횟수 100,000 제한</a:t>
            </a:r>
          </a:p>
        </p:txBody>
      </p:sp>
      <p:sp>
        <p:nvSpPr>
          <p:cNvPr id="14" name="step-body-3-72">
            <a:extLst xmlns:a="http://schemas.openxmlformats.org/drawingml/2006/main">
              <a:ext uri="{FF2B5EF4-FFF2-40B4-BE49-F238E27FC236}">
                <a16:creationId xmlns:a16="http://schemas.microsoft.com/office/drawing/2014/main" id="{99411386-F666-4166-AD8B-A898D751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781550"/>
            <a:ext cx="42291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실제 Workers 한계에 맞춰 상한을 코드와 문서에 고정했다.</a:t>
            </a:r>
          </a:p>
        </p:txBody>
      </p:sp>
      <p:sp>
        <p:nvSpPr>
          <p:cNvPr id="15" name="security-code">
            <a:extLst xmlns:a="http://schemas.openxmlformats.org/drawingml/2006/main">
              <a:ext uri="{FF2B5EF4-FFF2-40B4-BE49-F238E27FC236}">
                <a16:creationId xmlns:a16="http://schemas.microsoft.com/office/drawing/2014/main" id="{96303ACD-6235-4A14-A1D3-7F77E771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43100"/>
            <a:ext cx="5410200" cy="3486150"/>
          </a:xfrm>
          <a:prstGeom xmlns:a="http://schemas.openxmlformats.org/drawingml/2006/main" prst="roundRect">
            <a:avLst>
              <a:gd name="adj" fmla="val 3279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16" name="security-code-text">
            <a:extLst xmlns:a="http://schemas.openxmlformats.org/drawingml/2006/main">
              <a:ext uri="{FF2B5EF4-FFF2-40B4-BE49-F238E27FC236}">
                <a16:creationId xmlns:a16="http://schemas.microsoft.com/office/drawing/2014/main" id="{0642575B-1D7F-44D0-A264-6FA0576BD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324100"/>
            <a:ext cx="4686300" cy="2724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d616ab7  Argon2id → PBKDF2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5a09b27  constant-time 비교 await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324c5e9  iterations ≤ 100,000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crypto.subtle.deriveBits(...)</a:t>
            </a:r>
          </a:p>
          <a:p xmlns:a="http://schemas.openxmlformats.org/drawingml/2006/main">
            <a:pPr algn="l">
              <a:defRPr sz="1500" b="0">
                <a:solidFill>
                  <a:srgbClr val="FFFFFF"/>
                </a:solidFill>
                <a:latin typeface="Consolas"/>
                <a:ea typeface="Consolas"/>
                <a:cs typeface="Consolas"/>
              </a:defRPr>
            </a:pPr>
            <a:r>
              <a:rPr sz="1500" b="0">
                <a:solidFill>
                  <a:srgbClr val="FFFFFF"/>
                </a:solidFill>
                <a:latin typeface="Consolas"/>
                <a:ea typeface="Consolas"/>
                <a:cs typeface="Consolas"/>
              </a:rPr>
              <a:t>PBKDF2 / SHA-256 / random salt</a:t>
            </a:r>
          </a:p>
        </p:txBody>
      </p:sp>
      <p:sp>
        <p:nvSpPr>
          <p:cNvPr id="17" name="security-lesson">
            <a:extLst xmlns:a="http://schemas.openxmlformats.org/drawingml/2006/main">
              <a:ext uri="{FF2B5EF4-FFF2-40B4-BE49-F238E27FC236}">
                <a16:creationId xmlns:a16="http://schemas.microsoft.com/office/drawing/2014/main" id="{8254004C-0123-490C-BD2F-993EBAE78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8483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교훈: 보안 알고리즘은 이론적 강도뿐 아니라 실행 플랫폼의 제약 안에서 검증해야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51534147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30CC6640-2268-46CB-B592-2B5A732C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TRIAL &amp; ERROR · INPUT UX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14A14020-744D-4E0B-A591-374E2119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Trial 2 — 전화번호 입력은 형식화보다 실제 붙여넣기가 더 어려웠다</a:t>
            </a:r>
          </a:p>
        </p:txBody>
      </p:sp>
      <p:cxnSp>
        <p:nvCxnSpPr>
          <p:cNvPr id="23" name="top-rule-9"/>
          <p:cNvCxnSpPr/>
          <p:nvPr/>
        </p:nvCxnSpPr>
        <p:spPr>
          <a:xfrm xmlns:a="http://schemas.openxmlformats.org/drawingml/2006/main">
            <a:off x="533400" y="15811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9">
            <a:extLst xmlns:a="http://schemas.openxmlformats.org/drawingml/2006/main">
              <a:ext uri="{FF2B5EF4-FFF2-40B4-BE49-F238E27FC236}">
                <a16:creationId xmlns:a16="http://schemas.microsoft.com/office/drawing/2014/main" id="{3F92821F-0465-4934-AB73-FD5974153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151027F6-4AC6-4FE0-BA03-8E42F44DE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cxnSp>
        <p:nvCxnSpPr>
          <p:cNvPr id="26" name="phone-timeline"/>
          <p:cNvCxnSpPr/>
          <p:nvPr/>
        </p:nvCxnSpPr>
        <p:spPr>
          <a:xfrm xmlns:a="http://schemas.openxmlformats.org/drawingml/2006/main">
            <a:off x="952500" y="329565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7111F"/>
            </a:solidFill>
            <a:prstDash val="solid"/>
          </a:ln>
        </p:spPr>
      </p:cxnSp>
      <p:sp>
        <p:nvSpPr>
          <p:cNvPr id="7" name="phone-dot-0">
            <a:extLst xmlns:a="http://schemas.openxmlformats.org/drawingml/2006/main">
              <a:ext uri="{FF2B5EF4-FFF2-40B4-BE49-F238E27FC236}">
                <a16:creationId xmlns:a16="http://schemas.microsoft.com/office/drawing/2014/main" id="{19036371-5836-49E8-8879-D64D9E7AF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81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8" name="phone-hash-0">
            <a:extLst xmlns:a="http://schemas.openxmlformats.org/drawingml/2006/main">
              <a:ext uri="{FF2B5EF4-FFF2-40B4-BE49-F238E27FC236}">
                <a16:creationId xmlns:a16="http://schemas.microsoft.com/office/drawing/2014/main" id="{A5B7FF8E-972C-4F66-B71A-360F62F5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B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6BFF"/>
                </a:solidFill>
                <a:latin typeface="Consolas"/>
                <a:ea typeface="Consolas"/>
                <a:cs typeface="Consolas"/>
              </a:rPr>
              <a:t>34b4778</a:t>
            </a:r>
          </a:p>
        </p:txBody>
      </p:sp>
      <p:sp>
        <p:nvSpPr>
          <p:cNvPr id="9" name="phone-title-0">
            <a:extLst xmlns:a="http://schemas.openxmlformats.org/drawingml/2006/main">
              <a:ext uri="{FF2B5EF4-FFF2-40B4-BE49-F238E27FC236}">
                <a16:creationId xmlns:a16="http://schemas.microsoft.com/office/drawing/2014/main" id="{BAC88526-26BA-4431-A8B4-208F3320D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정규화</a:t>
            </a:r>
          </a:p>
        </p:txBody>
      </p:sp>
      <p:sp>
        <p:nvSpPr>
          <p:cNvPr id="10" name="phone-body-0">
            <a:extLst xmlns:a="http://schemas.openxmlformats.org/drawingml/2006/main">
              <a:ext uri="{FF2B5EF4-FFF2-40B4-BE49-F238E27FC236}">
                <a16:creationId xmlns:a16="http://schemas.microsoft.com/office/drawing/2014/main" id="{D0613219-7470-483F-BF9D-B45A3C09C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01033881597 →</a:t>
            </a:r>
          </a:p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010-3388-1597</a:t>
            </a:r>
          </a:p>
        </p:txBody>
      </p:sp>
      <p:sp>
        <p:nvSpPr>
          <p:cNvPr id="11" name="phone-dot-1">
            <a:extLst xmlns:a="http://schemas.openxmlformats.org/drawingml/2006/main">
              <a:ext uri="{FF2B5EF4-FFF2-40B4-BE49-F238E27FC236}">
                <a16:creationId xmlns:a16="http://schemas.microsoft.com/office/drawing/2014/main" id="{D091EE93-97D0-41C0-AADB-1CBE1D432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181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4B4B"/>
          </a:solidFill>
          <a:ln xmlns:a="http://schemas.openxmlformats.org/drawingml/2006/main" w="0">
            <a:solidFill>
              <a:srgbClr val="E14B4B"/>
            </a:solidFill>
            <a:prstDash val="solid"/>
          </a:ln>
        </p:spPr>
      </p:sp>
      <p:sp>
        <p:nvSpPr>
          <p:cNvPr id="12" name="phone-hash-1">
            <a:extLst xmlns:a="http://schemas.openxmlformats.org/drawingml/2006/main">
              <a:ext uri="{FF2B5EF4-FFF2-40B4-BE49-F238E27FC236}">
                <a16:creationId xmlns:a16="http://schemas.microsoft.com/office/drawing/2014/main" id="{FA1CD7C3-088A-41A8-8340-A7238B8B5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B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6BFF"/>
                </a:solidFill>
                <a:latin typeface="Consolas"/>
                <a:ea typeface="Consolas"/>
                <a:cs typeface="Consolas"/>
              </a:rPr>
              <a:t>59073d4</a:t>
            </a:r>
          </a:p>
        </p:txBody>
      </p:sp>
      <p:sp>
        <p:nvSpPr>
          <p:cNvPr id="13" name="phone-title-1">
            <a:extLst xmlns:a="http://schemas.openxmlformats.org/drawingml/2006/main">
              <a:ext uri="{FF2B5EF4-FFF2-40B4-BE49-F238E27FC236}">
                <a16:creationId xmlns:a16="http://schemas.microsoft.com/office/drawing/2014/main" id="{D71D14AD-7FA6-4C49-AC91-04F3E3A5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붙여넣기 오류</a:t>
            </a:r>
          </a:p>
        </p:txBody>
      </p:sp>
      <p:sp>
        <p:nvSpPr>
          <p:cNvPr id="14" name="phone-body-1">
            <a:extLst xmlns:a="http://schemas.openxmlformats.org/drawingml/2006/main">
              <a:ext uri="{FF2B5EF4-FFF2-40B4-BE49-F238E27FC236}">
                <a16:creationId xmlns:a16="http://schemas.microsoft.com/office/drawing/2014/main" id="{1CE56304-16F4-4EEF-B772-09B0224F0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152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maxLength가 원본 숫자를</a:t>
            </a:r>
          </a:p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먼저 잘라내는 문제 발견</a:t>
            </a:r>
          </a:p>
        </p:txBody>
      </p:sp>
      <p:sp>
        <p:nvSpPr>
          <p:cNvPr id="15" name="phone-dot-2">
            <a:extLst xmlns:a="http://schemas.openxmlformats.org/drawingml/2006/main">
              <a:ext uri="{FF2B5EF4-FFF2-40B4-BE49-F238E27FC236}">
                <a16:creationId xmlns:a16="http://schemas.microsoft.com/office/drawing/2014/main" id="{E77827A9-8819-41D4-A972-86051C18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813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6" name="phone-hash-2">
            <a:extLst xmlns:a="http://schemas.openxmlformats.org/drawingml/2006/main">
              <a:ext uri="{FF2B5EF4-FFF2-40B4-BE49-F238E27FC236}">
                <a16:creationId xmlns:a16="http://schemas.microsoft.com/office/drawing/2014/main" id="{A0D0FB85-BC6E-4021-BC71-C18719FC9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24150"/>
            <a:ext cx="133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B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6BFF"/>
                </a:solidFill>
                <a:latin typeface="Consolas"/>
                <a:ea typeface="Consolas"/>
                <a:cs typeface="Consolas"/>
              </a:rPr>
              <a:t>a19a915</a:t>
            </a:r>
          </a:p>
        </p:txBody>
      </p:sp>
      <p:sp>
        <p:nvSpPr>
          <p:cNvPr id="17" name="phone-title-2">
            <a:extLst xmlns:a="http://schemas.openxmlformats.org/drawingml/2006/main">
              <a:ext uri="{FF2B5EF4-FFF2-40B4-BE49-F238E27FC236}">
                <a16:creationId xmlns:a16="http://schemas.microsoft.com/office/drawing/2014/main" id="{2ED5D2B1-06E2-447F-8088-0B7CDF93A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7147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회귀 테스트</a:t>
            </a:r>
          </a:p>
        </p:txBody>
      </p:sp>
      <p:sp>
        <p:nvSpPr>
          <p:cNvPr id="18" name="phone-body-2">
            <a:extLst xmlns:a="http://schemas.openxmlformats.org/drawingml/2006/main">
              <a:ext uri="{FF2B5EF4-FFF2-40B4-BE49-F238E27FC236}">
                <a16:creationId xmlns:a16="http://schemas.microsoft.com/office/drawing/2014/main" id="{C468948F-4C48-4C6F-B6C9-F0085D0D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152900"/>
            <a:ext cx="2476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Playwright로 입력·붙여넣기</a:t>
            </a:r>
          </a:p>
          <a:p xmlns:a="http://schemas.openxmlformats.org/drawingml/2006/main">
            <a:pPr algn="l">
              <a:def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행동을 자동 검증</a:t>
            </a:r>
          </a:p>
        </p:txBody>
      </p:sp>
      <p:sp>
        <p:nvSpPr>
          <p:cNvPr id="19" name="phone-lesson">
            <a:extLst xmlns:a="http://schemas.openxmlformats.org/drawingml/2006/main">
              <a:ext uri="{FF2B5EF4-FFF2-40B4-BE49-F238E27FC236}">
                <a16:creationId xmlns:a16="http://schemas.microsoft.com/office/drawing/2014/main" id="{C12F714D-C1C6-46C9-AA9D-2F7259E87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5391150"/>
            <a:ext cx="84201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26BFF"/>
            </a:solidFill>
            <a:prstDash val="solid"/>
          </a:ln>
        </p:spPr>
      </p:sp>
      <p:sp>
        <p:nvSpPr>
          <p:cNvPr id="20" name="phone-lesson-text">
            <a:extLst xmlns:a="http://schemas.openxmlformats.org/drawingml/2006/main">
              <a:ext uri="{FF2B5EF4-FFF2-40B4-BE49-F238E27FC236}">
                <a16:creationId xmlns:a16="http://schemas.microsoft.com/office/drawing/2014/main" id="{99874123-C694-4E4B-9B0A-BA7769A2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00700"/>
            <a:ext cx="781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교훈: 필드 제약은 최종 값뿐 아니라 입력 순서·붙여넣기·모바일 키보드까지 테스트해야 한다.</a:t>
            </a:r>
          </a:p>
        </p:txBody>
      </p:sp>
    </p:spTree>
    <p:extLst>
      <p:ext uri="{BB962C8B-B14F-4D97-AF65-F5344CB8AC3E}">
        <p14:creationId xmlns:p14="http://schemas.microsoft.com/office/powerpoint/2010/main" val="139502674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0">
            <a:extLst xmlns:a="http://schemas.openxmlformats.org/drawingml/2006/main">
              <a:ext uri="{FF2B5EF4-FFF2-40B4-BE49-F238E27FC236}">
                <a16:creationId xmlns:a16="http://schemas.microsoft.com/office/drawing/2014/main" id="{CE3D5139-5D1A-4BFB-B2E5-7CB831D88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TRIAL &amp; ERROR · RELIABILITY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9DE1DDE-4428-4C37-BAA7-8DDE5D3C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Trial 3 — 알림과 백업은 ‘성공’보다 실패 후 복구가 핵심이었다</a:t>
            </a:r>
          </a:p>
        </p:txBody>
      </p:sp>
      <p:cxnSp>
        <p:nvCxnSpPr>
          <p:cNvPr id="15" name="top-rule-10"/>
          <p:cNvCxnSpPr/>
          <p:nvPr/>
        </p:nvCxnSpPr>
        <p:spPr>
          <a:xfrm xmlns:a="http://schemas.openxmlformats.org/drawingml/2006/main">
            <a:off x="533400" y="15811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10">
            <a:extLst xmlns:a="http://schemas.openxmlformats.org/drawingml/2006/main">
              <a:ext uri="{FF2B5EF4-FFF2-40B4-BE49-F238E27FC236}">
                <a16:creationId xmlns:a16="http://schemas.microsoft.com/office/drawing/2014/main" id="{B803395E-00A3-4458-AB31-EA769E59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11938974-F077-4900-A02D-C7E99C0A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10</a:t>
            </a:r>
          </a:p>
        </p:txBody>
      </p:sp>
      <p:sp>
        <p:nvSpPr>
          <p:cNvPr id="6" name="notify-title">
            <a:extLst xmlns:a="http://schemas.openxmlformats.org/drawingml/2006/main">
              <a:ext uri="{FF2B5EF4-FFF2-40B4-BE49-F238E27FC236}">
                <a16:creationId xmlns:a16="http://schemas.microsoft.com/office/drawing/2014/main" id="{BB485A08-79AE-4749-B604-EC159D9AD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Telegram 알림</a:t>
            </a:r>
          </a:p>
        </p:txBody>
      </p:sp>
      <p:sp>
        <p:nvSpPr>
          <p:cNvPr id="7" name="backup-title">
            <a:extLst xmlns:a="http://schemas.openxmlformats.org/drawingml/2006/main">
              <a:ext uri="{FF2B5EF4-FFF2-40B4-BE49-F238E27FC236}">
                <a16:creationId xmlns:a16="http://schemas.microsoft.com/office/drawing/2014/main" id="{325E58A1-E57B-4379-AA0D-5F0C8D55F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097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D1 백업</a:t>
            </a:r>
          </a:p>
        </p:txBody>
      </p:sp>
      <p:sp>
        <p:nvSpPr>
          <p:cNvPr id="8" name="notify-panel">
            <a:extLst xmlns:a="http://schemas.openxmlformats.org/drawingml/2006/main">
              <a:ext uri="{FF2B5EF4-FFF2-40B4-BE49-F238E27FC236}">
                <a16:creationId xmlns:a16="http://schemas.microsoft.com/office/drawing/2014/main" id="{DE1F237E-AF87-4F7C-B59C-0DE6CD60F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49530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9" name="backup-panel">
            <a:extLst xmlns:a="http://schemas.openxmlformats.org/drawingml/2006/main">
              <a:ext uri="{FF2B5EF4-FFF2-40B4-BE49-F238E27FC236}">
                <a16:creationId xmlns:a16="http://schemas.microsoft.com/office/drawing/2014/main" id="{E3C78686-957C-4CA4-A174-4258AB316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286000"/>
            <a:ext cx="5067300" cy="3067050"/>
          </a:xfrm>
          <a:prstGeom xmlns:a="http://schemas.openxmlformats.org/drawingml/2006/main" prst="roundRect">
            <a:avLst>
              <a:gd name="adj" fmla="val 3727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10" name="notify-flow">
            <a:extLst xmlns:a="http://schemas.openxmlformats.org/drawingml/2006/main">
              <a:ext uri="{FF2B5EF4-FFF2-40B4-BE49-F238E27FC236}">
                <a16:creationId xmlns:a16="http://schemas.microsoft.com/office/drawing/2014/main" id="{CD2E5B3A-F14A-4A21-9FD1-120849D7B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41910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신청 저장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↓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응답 경로 밖에서 발송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↓ 실패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대기열 기록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↓ 5분 cron</a:t>
            </a:r>
          </a:p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재시도</a:t>
            </a:r>
          </a:p>
        </p:txBody>
      </p:sp>
      <p:sp>
        <p:nvSpPr>
          <p:cNvPr id="11" name="backup-flow">
            <a:extLst xmlns:a="http://schemas.openxmlformats.org/drawingml/2006/main">
              <a:ext uri="{FF2B5EF4-FFF2-40B4-BE49-F238E27FC236}">
                <a16:creationId xmlns:a16="http://schemas.microsoft.com/office/drawing/2014/main" id="{15863ABD-DE68-4FE8-B321-C70544CD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647950"/>
            <a:ext cx="4381500" cy="2324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03:00  D1 → SQL + SHA-256 manifest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03:20  서버 PC가 R2에서 다운로드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검증 후 Windows CMS로 암호화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Google Drive 또는 로컬 보관</a:t>
            </a:r>
          </a:p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보존기간 365일</a:t>
            </a:r>
          </a:p>
        </p:txBody>
      </p:sp>
      <p:sp>
        <p:nvSpPr>
          <p:cNvPr id="12" name="reliability-lesson">
            <a:extLst xmlns:a="http://schemas.openxmlformats.org/drawingml/2006/main">
              <a:ext uri="{FF2B5EF4-FFF2-40B4-BE49-F238E27FC236}">
                <a16:creationId xmlns:a16="http://schemas.microsoft.com/office/drawing/2014/main" id="{3E6FCBF3-77C3-4D35-8A0B-E9BA324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810250"/>
            <a:ext cx="1005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교훈: 네트워크와 외부 서비스는 실패한다고 가정하고 재시도·무결성·복원 절차를 설계한다.</a:t>
            </a:r>
          </a:p>
        </p:txBody>
      </p:sp>
    </p:spTree>
    <p:extLst>
      <p:ext uri="{BB962C8B-B14F-4D97-AF65-F5344CB8AC3E}">
        <p14:creationId xmlns:p14="http://schemas.microsoft.com/office/powerpoint/2010/main" val="193449393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F7F548B3-CF66-4C9F-8222-5678B665B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TRIAL &amp; ERROR · OPERATIONS UX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8DE64E1F-3176-47F4-B15E-5097147BC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781050"/>
            <a:ext cx="100584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Trial 4 — 운영 UX는 저장·모바일에서 갈렸다</a:t>
            </a:r>
          </a:p>
        </p:txBody>
      </p:sp>
      <p:cxnSp>
        <p:nvCxnSpPr>
          <p:cNvPr id="15" name="top-rule-11"/>
          <p:cNvCxnSpPr/>
          <p:nvPr/>
        </p:nvCxnSpPr>
        <p:spPr>
          <a:xfrm xmlns:a="http://schemas.openxmlformats.org/drawingml/2006/main">
            <a:off x="1600200" y="1581150"/>
            <a:ext cx="10058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11">
            <a:extLst xmlns:a="http://schemas.openxmlformats.org/drawingml/2006/main">
              <a:ext uri="{FF2B5EF4-FFF2-40B4-BE49-F238E27FC236}">
                <a16:creationId xmlns:a16="http://schemas.microsoft.com/office/drawing/2014/main" id="{A4638659-9F35-4852-9C35-720B2B339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EFC77F88-9107-4FD7-B958-29DE790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11</a:t>
            </a:r>
          </a:p>
        </p:txBody>
      </p:sp>
      <p:sp>
        <p:nvSpPr>
          <p:cNvPr id="6" name="ux-left">
            <a:extLst xmlns:a="http://schemas.openxmlformats.org/drawingml/2006/main">
              <a:ext uri="{FF2B5EF4-FFF2-40B4-BE49-F238E27FC236}">
                <a16:creationId xmlns:a16="http://schemas.microsoft.com/office/drawing/2014/main" id="{7AF9B403-93D7-4314-B98D-0213321B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69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D0DA"/>
            </a:solidFill>
            <a:prstDash val="solid"/>
          </a:ln>
        </p:spPr>
      </p:sp>
      <p:sp>
        <p:nvSpPr>
          <p:cNvPr id="7" name="ux-right">
            <a:extLst xmlns:a="http://schemas.openxmlformats.org/drawingml/2006/main">
              <a:ext uri="{FF2B5EF4-FFF2-40B4-BE49-F238E27FC236}">
                <a16:creationId xmlns:a16="http://schemas.microsoft.com/office/drawing/2014/main" id="{C95C138D-5652-4987-980D-269499B26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66900"/>
            <a:ext cx="495300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226BFF"/>
            </a:solidFill>
            <a:prstDash val="solid"/>
          </a:ln>
        </p:spPr>
      </p:sp>
      <p:sp>
        <p:nvSpPr>
          <p:cNvPr id="8" name="ux-left-head">
            <a:extLst xmlns:a="http://schemas.openxmlformats.org/drawingml/2006/main">
              <a:ext uri="{FF2B5EF4-FFF2-40B4-BE49-F238E27FC236}">
                <a16:creationId xmlns:a16="http://schemas.microsoft.com/office/drawing/2014/main" id="{EA827505-046D-42C4-8DC8-DAB1D44C4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rPr>
              <a:t>저장 후 페이지 새로고침</a:t>
            </a:r>
          </a:p>
        </p:txBody>
      </p:sp>
      <p:sp>
        <p:nvSpPr>
          <p:cNvPr id="9" name="ux-left-body">
            <a:extLst xmlns:a="http://schemas.openxmlformats.org/drawingml/2006/main">
              <a:ext uri="{FF2B5EF4-FFF2-40B4-BE49-F238E27FC236}">
                <a16:creationId xmlns:a16="http://schemas.microsoft.com/office/drawing/2014/main" id="{028DEE63-4FA0-49A0-B0FA-5FAE7F0D9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4229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스크롤 위치와 검색 맥락이 사라짐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비동기 저장 + 완료 메시지</a:t>
            </a:r>
          </a:p>
          <a:p xmlns:a="http://schemas.openxmlformats.org/drawingml/2006/main">
            <a:pPr algn="l">
              <a:def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URL과 스크롤 위치 유지</a:t>
            </a:r>
          </a:p>
        </p:txBody>
      </p:sp>
      <p:sp>
        <p:nvSpPr>
          <p:cNvPr id="10" name="ux-right-head">
            <a:extLst xmlns:a="http://schemas.openxmlformats.org/drawingml/2006/main">
              <a:ext uri="{FF2B5EF4-FFF2-40B4-BE49-F238E27FC236}">
                <a16:creationId xmlns:a16="http://schemas.microsoft.com/office/drawing/2014/main" id="{33BAA847-9293-4CB8-86E5-C96EAC91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209800"/>
            <a:ext cx="422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모바일에서 큰 관리 표</a:t>
            </a:r>
          </a:p>
        </p:txBody>
      </p:sp>
      <p:sp>
        <p:nvSpPr>
          <p:cNvPr id="11" name="ux-right-body">
            <a:extLst xmlns:a="http://schemas.openxmlformats.org/drawingml/2006/main">
              <a:ext uri="{FF2B5EF4-FFF2-40B4-BE49-F238E27FC236}">
                <a16:creationId xmlns:a16="http://schemas.microsoft.com/office/drawing/2014/main" id="{D8ABE528-5A9F-49B9-B1D9-AB32D3466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781300"/>
            <a:ext cx="42291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문제</a:t>
            </a:r>
          </a:p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열이 많아 핵심 정보와 행동이 묻힘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개선</a:t>
            </a:r>
          </a:p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접수 카드 + 전화 + SMS</a:t>
            </a:r>
          </a:p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상세 수정으로 바로 이동</a:t>
            </a:r>
          </a:p>
        </p:txBody>
      </p:sp>
      <p:sp>
        <p:nvSpPr>
          <p:cNvPr id="12" name="ux-test">
            <a:extLst xmlns:a="http://schemas.openxmlformats.org/drawingml/2006/main">
              <a:ext uri="{FF2B5EF4-FFF2-40B4-BE49-F238E27FC236}">
                <a16:creationId xmlns:a16="http://schemas.microsoft.com/office/drawing/2014/main" id="{CA46741B-EBB3-4D24-AA7A-481B4A375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905500"/>
            <a:ext cx="8953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Playwright가 저장 후 스크롤 유지와 390×844 모바일 카드 표시를 고정한다.</a:t>
            </a:r>
          </a:p>
        </p:txBody>
      </p:sp>
    </p:spTree>
    <p:extLst>
      <p:ext uri="{BB962C8B-B14F-4D97-AF65-F5344CB8AC3E}">
        <p14:creationId xmlns:p14="http://schemas.microsoft.com/office/powerpoint/2010/main" val="181430031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2">
            <a:extLst xmlns:a="http://schemas.openxmlformats.org/drawingml/2006/main">
              <a:ext uri="{FF2B5EF4-FFF2-40B4-BE49-F238E27FC236}">
                <a16:creationId xmlns:a16="http://schemas.microsoft.com/office/drawing/2014/main" id="{97378C7F-EE76-46F5-BE4B-7DD2D3E45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TRIAL &amp; ERROR · GIT / DEPLOYMENT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4650C883-1011-4FC5-B068-D67F98A7D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가장 큰 사고는 코드가 아니라 브랜치 흐름에서 발생했다</a:t>
            </a:r>
          </a:p>
        </p:txBody>
      </p:sp>
      <p:cxnSp>
        <p:nvCxnSpPr>
          <p:cNvPr id="33" name="top-rule-12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12">
            <a:extLst xmlns:a="http://schemas.openxmlformats.org/drawingml/2006/main">
              <a:ext uri="{FF2B5EF4-FFF2-40B4-BE49-F238E27FC236}">
                <a16:creationId xmlns:a16="http://schemas.microsoft.com/office/drawing/2014/main" id="{3CD6EF01-DE73-4FB1-8DE5-E8A04CCE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247D15BB-D582-424F-BC1D-0BAD653D1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12</a:t>
            </a:r>
          </a:p>
        </p:txBody>
      </p:sp>
      <p:cxnSp>
        <p:nvCxnSpPr>
          <p:cNvPr id="36" name="main-line"/>
          <p:cNvCxnSpPr/>
          <p:nvPr/>
        </p:nvCxnSpPr>
        <p:spPr>
          <a:xfrm xmlns:a="http://schemas.openxmlformats.org/drawingml/2006/main">
            <a:off x="1047750" y="3009900"/>
            <a:ext cx="9810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7111F"/>
            </a:solidFill>
            <a:prstDash val="solid"/>
          </a:ln>
        </p:spPr>
      </p:cxnSp>
      <p:cxnSp>
        <p:nvCxnSpPr>
          <p:cNvPr id="37" name="branch-down"/>
          <p:cNvCxnSpPr/>
          <p:nvPr/>
        </p:nvCxnSpPr>
        <p:spPr>
          <a:xfrm xmlns:a="http://schemas.openxmlformats.org/drawingml/2006/main">
            <a:off x="2476500" y="30099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38" name="branch-line"/>
          <p:cNvCxnSpPr/>
          <p:nvPr/>
        </p:nvCxnSpPr>
        <p:spPr>
          <a:xfrm xmlns:a="http://schemas.openxmlformats.org/drawingml/2006/main">
            <a:off x="2476500" y="4076700"/>
            <a:ext cx="40957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39" name="merge-one"/>
          <p:cNvCxnSpPr/>
          <p:nvPr/>
        </p:nvCxnSpPr>
        <p:spPr>
          <a:xfrm xmlns:a="http://schemas.openxmlformats.org/drawingml/2006/main">
            <a:off x="4267200" y="30099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26BFF"/>
            </a:solidFill>
            <a:prstDash val="solid"/>
          </a:ln>
        </p:spPr>
      </p:cxnSp>
      <p:cxnSp>
        <p:nvCxnSpPr>
          <p:cNvPr id="40" name="late-merge"/>
          <p:cNvCxnSpPr/>
          <p:nvPr/>
        </p:nvCxnSpPr>
        <p:spPr>
          <a:xfrm xmlns:a="http://schemas.openxmlformats.org/drawingml/2006/main">
            <a:off x="6572250" y="3009900"/>
            <a:ext cx="339090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E14B4B"/>
            </a:solidFill>
            <a:prstDash val="solid"/>
          </a:ln>
        </p:spPr>
      </p:cxnSp>
      <p:sp>
        <p:nvSpPr>
          <p:cNvPr id="11" name="git-main-dot-0">
            <a:extLst xmlns:a="http://schemas.openxmlformats.org/drawingml/2006/main">
              <a:ext uri="{FF2B5EF4-FFF2-40B4-BE49-F238E27FC236}">
                <a16:creationId xmlns:a16="http://schemas.microsoft.com/office/drawing/2014/main" id="{EF421FF3-FBD5-435B-890B-D2B204996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2" name="git-main-hash-0">
            <a:extLst xmlns:a="http://schemas.openxmlformats.org/drawingml/2006/main">
              <a:ext uri="{FF2B5EF4-FFF2-40B4-BE49-F238E27FC236}">
                <a16:creationId xmlns:a16="http://schemas.microsoft.com/office/drawing/2014/main" id="{90788DFA-7089-4196-A19F-C720ADB8F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00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91f3d9c</a:t>
            </a:r>
          </a:p>
        </p:txBody>
      </p:sp>
      <p:sp>
        <p:nvSpPr>
          <p:cNvPr id="13" name="git-main-label-0">
            <a:extLst xmlns:a="http://schemas.openxmlformats.org/drawingml/2006/main">
              <a:ext uri="{FF2B5EF4-FFF2-40B4-BE49-F238E27FC236}">
                <a16:creationId xmlns:a16="http://schemas.microsoft.com/office/drawing/2014/main" id="{AC8B322D-F372-40D4-BB4E-64CAA256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기준 main</a:t>
            </a:r>
          </a:p>
        </p:txBody>
      </p:sp>
      <p:sp>
        <p:nvSpPr>
          <p:cNvPr id="14" name="git-main-dot-1">
            <a:extLst xmlns:a="http://schemas.openxmlformats.org/drawingml/2006/main">
              <a:ext uri="{FF2B5EF4-FFF2-40B4-BE49-F238E27FC236}">
                <a16:creationId xmlns:a16="http://schemas.microsoft.com/office/drawing/2014/main" id="{BA884A73-4649-468D-A25D-1DA62AD63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5" name="git-main-hash-1">
            <a:extLst xmlns:a="http://schemas.openxmlformats.org/drawingml/2006/main">
              <a:ext uri="{FF2B5EF4-FFF2-40B4-BE49-F238E27FC236}">
                <a16:creationId xmlns:a16="http://schemas.microsoft.com/office/drawing/2014/main" id="{EE0B2DF2-A032-4AF5-A5BA-FA0A5795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2400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244825d</a:t>
            </a:r>
          </a:p>
        </p:txBody>
      </p:sp>
      <p:sp>
        <p:nvSpPr>
          <p:cNvPr id="16" name="git-main-label-1">
            <a:extLst xmlns:a="http://schemas.openxmlformats.org/drawingml/2006/main">
              <a:ext uri="{FF2B5EF4-FFF2-40B4-BE49-F238E27FC236}">
                <a16:creationId xmlns:a16="http://schemas.microsoft.com/office/drawing/2014/main" id="{40E99339-FE22-45D5-95A8-F17FCE1A0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PR #1 병합</a:t>
            </a:r>
          </a:p>
        </p:txBody>
      </p:sp>
      <p:sp>
        <p:nvSpPr>
          <p:cNvPr id="17" name="git-main-dot-2">
            <a:extLst xmlns:a="http://schemas.openxmlformats.org/drawingml/2006/main">
              <a:ext uri="{FF2B5EF4-FFF2-40B4-BE49-F238E27FC236}">
                <a16:creationId xmlns:a16="http://schemas.microsoft.com/office/drawing/2014/main" id="{2A0E4C9B-E5D0-45B0-9F25-B92990477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11F"/>
          </a:solidFill>
          <a:ln xmlns:a="http://schemas.openxmlformats.org/drawingml/2006/main" w="0">
            <a:solidFill>
              <a:srgbClr val="07111F"/>
            </a:solidFill>
            <a:prstDash val="solid"/>
          </a:ln>
        </p:spPr>
      </p:sp>
      <p:sp>
        <p:nvSpPr>
          <p:cNvPr id="18" name="git-main-hash-2">
            <a:extLst xmlns:a="http://schemas.openxmlformats.org/drawingml/2006/main">
              <a:ext uri="{FF2B5EF4-FFF2-40B4-BE49-F238E27FC236}">
                <a16:creationId xmlns:a16="http://schemas.microsoft.com/office/drawing/2014/main" id="{652D941A-E7D9-40BB-8FFA-E5BCCAD4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2400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7111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7111F"/>
                </a:solidFill>
                <a:latin typeface="Consolas"/>
                <a:ea typeface="Consolas"/>
                <a:cs typeface="Consolas"/>
              </a:rPr>
              <a:t>7eda503</a:t>
            </a:r>
          </a:p>
        </p:txBody>
      </p:sp>
      <p:sp>
        <p:nvSpPr>
          <p:cNvPr id="19" name="git-main-label-2">
            <a:extLst xmlns:a="http://schemas.openxmlformats.org/drawingml/2006/main">
              <a:ext uri="{FF2B5EF4-FFF2-40B4-BE49-F238E27FC236}">
                <a16:creationId xmlns:a16="http://schemas.microsoft.com/office/drawing/2014/main" id="{9CE4078A-FEB6-4CE1-B503-A1F284BEF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도메인 배포</a:t>
            </a:r>
          </a:p>
        </p:txBody>
      </p:sp>
      <p:sp>
        <p:nvSpPr>
          <p:cNvPr id="20" name="git-main-dot-3">
            <a:extLst xmlns:a="http://schemas.openxmlformats.org/drawingml/2006/main">
              <a:ext uri="{FF2B5EF4-FFF2-40B4-BE49-F238E27FC236}">
                <a16:creationId xmlns:a16="http://schemas.microsoft.com/office/drawing/2014/main" id="{AD6B41E3-4F5E-43C4-9A72-9B29C92B7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956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E9F6E"/>
          </a:solidFill>
          <a:ln xmlns:a="http://schemas.openxmlformats.org/drawingml/2006/main" w="0">
            <a:solidFill>
              <a:srgbClr val="0E9F6E"/>
            </a:solidFill>
            <a:prstDash val="solid"/>
          </a:ln>
        </p:spPr>
      </p:sp>
      <p:sp>
        <p:nvSpPr>
          <p:cNvPr id="21" name="git-main-hash-3">
            <a:extLst xmlns:a="http://schemas.openxmlformats.org/drawingml/2006/main">
              <a:ext uri="{FF2B5EF4-FFF2-40B4-BE49-F238E27FC236}">
                <a16:creationId xmlns:a16="http://schemas.microsoft.com/office/drawing/2014/main" id="{0B68E336-A56F-431B-84F8-FDB19BEEB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40030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E9F6E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0E9F6E"/>
                </a:solidFill>
                <a:latin typeface="Consolas"/>
                <a:ea typeface="Consolas"/>
                <a:cs typeface="Consolas"/>
              </a:rPr>
              <a:t>1d9809e</a:t>
            </a:r>
          </a:p>
        </p:txBody>
      </p:sp>
      <p:sp>
        <p:nvSpPr>
          <p:cNvPr id="22" name="git-main-label-3">
            <a:extLst xmlns:a="http://schemas.openxmlformats.org/drawingml/2006/main">
              <a:ext uri="{FF2B5EF4-FFF2-40B4-BE49-F238E27FC236}">
                <a16:creationId xmlns:a16="http://schemas.microsoft.com/office/drawing/2014/main" id="{012DA2EB-E3B0-4003-A454-173CB2D28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257550"/>
            <a:ext cx="152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복구 병합</a:t>
            </a:r>
          </a:p>
        </p:txBody>
      </p:sp>
      <p:sp>
        <p:nvSpPr>
          <p:cNvPr id="23" name="git-branch-056">
            <a:extLst xmlns:a="http://schemas.openxmlformats.org/drawingml/2006/main">
              <a:ext uri="{FF2B5EF4-FFF2-40B4-BE49-F238E27FC236}">
                <a16:creationId xmlns:a16="http://schemas.microsoft.com/office/drawing/2014/main" id="{DB65BD4D-CF0E-41EB-8799-93D78EF3C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24" name="git-branch-056-h">
            <a:extLst xmlns:a="http://schemas.openxmlformats.org/drawingml/2006/main">
              <a:ext uri="{FF2B5EF4-FFF2-40B4-BE49-F238E27FC236}">
                <a16:creationId xmlns:a16="http://schemas.microsoft.com/office/drawing/2014/main" id="{5F5E4DDE-923D-4EBB-8FB9-3616D60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362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26BFF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226BFF"/>
                </a:solidFill>
                <a:latin typeface="Consolas"/>
                <a:ea typeface="Consolas"/>
                <a:cs typeface="Consolas"/>
              </a:rPr>
              <a:t>056c2e2</a:t>
            </a:r>
          </a:p>
        </p:txBody>
      </p:sp>
      <p:sp>
        <p:nvSpPr>
          <p:cNvPr id="25" name="git-branch-056-l">
            <a:extLst xmlns:a="http://schemas.openxmlformats.org/drawingml/2006/main">
              <a:ext uri="{FF2B5EF4-FFF2-40B4-BE49-F238E27FC236}">
                <a16:creationId xmlns:a16="http://schemas.microsoft.com/office/drawing/2014/main" id="{20F28841-E8AB-4A26-B89A-9C042C53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667250"/>
            <a:ext cx="133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백업 기능</a:t>
            </a:r>
          </a:p>
        </p:txBody>
      </p:sp>
      <p:sp>
        <p:nvSpPr>
          <p:cNvPr id="26" name="git-branch-f07">
            <a:extLst xmlns:a="http://schemas.openxmlformats.org/drawingml/2006/main">
              <a:ext uri="{FF2B5EF4-FFF2-40B4-BE49-F238E27FC236}">
                <a16:creationId xmlns:a16="http://schemas.microsoft.com/office/drawing/2014/main" id="{6E56775D-539E-4E0B-8514-75B740C3A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9624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14B4B"/>
          </a:solidFill>
          <a:ln xmlns:a="http://schemas.openxmlformats.org/drawingml/2006/main" w="0">
            <a:solidFill>
              <a:srgbClr val="E14B4B"/>
            </a:solidFill>
            <a:prstDash val="solid"/>
          </a:ln>
        </p:spPr>
      </p:sp>
      <p:sp>
        <p:nvSpPr>
          <p:cNvPr id="27" name="git-branch-f07-h">
            <a:extLst xmlns:a="http://schemas.openxmlformats.org/drawingml/2006/main">
              <a:ext uri="{FF2B5EF4-FFF2-40B4-BE49-F238E27FC236}">
                <a16:creationId xmlns:a16="http://schemas.microsoft.com/office/drawing/2014/main" id="{DCB7FE34-5676-469D-822A-F58DD28AE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62450"/>
            <a:ext cx="114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E14B4B"/>
                </a:solidFill>
                <a:latin typeface="Consolas"/>
                <a:ea typeface="Consolas"/>
                <a:cs typeface="Consolas"/>
              </a:defRPr>
            </a:pPr>
            <a:r>
              <a:rPr sz="1200" b="1">
                <a:solidFill>
                  <a:srgbClr val="E14B4B"/>
                </a:solidFill>
                <a:latin typeface="Consolas"/>
                <a:ea typeface="Consolas"/>
                <a:cs typeface="Consolas"/>
              </a:rPr>
              <a:t>f07c936</a:t>
            </a:r>
          </a:p>
        </p:txBody>
      </p:sp>
      <p:sp>
        <p:nvSpPr>
          <p:cNvPr id="28" name="git-branch-f07-l">
            <a:extLst xmlns:a="http://schemas.openxmlformats.org/drawingml/2006/main">
              <a:ext uri="{FF2B5EF4-FFF2-40B4-BE49-F238E27FC236}">
                <a16:creationId xmlns:a16="http://schemas.microsoft.com/office/drawing/2014/main" id="{7F2EC4AF-780B-4380-B467-E54575EE3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667250"/>
            <a:ext cx="209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rPr>
              <a:t>ID/PW·직원 관리</a:t>
            </a:r>
          </a:p>
          <a:p xmlns:a="http://schemas.openxmlformats.org/drawingml/2006/main">
            <a:pPr algn="l">
              <a:defRPr sz="127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rPr>
              <a:t>PR 종료 후 추가됨</a:t>
            </a:r>
          </a:p>
        </p:txBody>
      </p:sp>
      <p:sp>
        <p:nvSpPr>
          <p:cNvPr id="29" name="git-root-cause">
            <a:extLst xmlns:a="http://schemas.openxmlformats.org/drawingml/2006/main">
              <a:ext uri="{FF2B5EF4-FFF2-40B4-BE49-F238E27FC236}">
                <a16:creationId xmlns:a16="http://schemas.microsoft.com/office/drawing/2014/main" id="{B2222915-33AC-4B0D-9A60-805A4A52A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505450"/>
            <a:ext cx="9220200" cy="704850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0F0"/>
          </a:solidFill>
          <a:ln xmlns:a="http://schemas.openxmlformats.org/drawingml/2006/main" w="9525">
            <a:solidFill>
              <a:srgbClr val="E14B4B"/>
            </a:solidFill>
            <a:prstDash val="solid"/>
          </a:ln>
        </p:spPr>
      </p:sp>
      <p:sp>
        <p:nvSpPr>
          <p:cNvPr id="30" name="git-root-cause-text">
            <a:extLst xmlns:a="http://schemas.openxmlformats.org/drawingml/2006/main">
              <a:ext uri="{FF2B5EF4-FFF2-40B4-BE49-F238E27FC236}">
                <a16:creationId xmlns:a16="http://schemas.microsoft.com/office/drawing/2014/main" id="{DFDE460A-5AE4-47FC-9D13-98BF128C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695950"/>
            <a:ext cx="857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원인: PR이 이미 병합된 뒤 같은 브랜치에 새 커밋을 추가했고, main에는 포함되지 않은 채 도메인 배포가 진행됐다.</a:t>
            </a:r>
          </a:p>
        </p:txBody>
      </p:sp>
    </p:spTree>
    <p:extLst>
      <p:ext uri="{BB962C8B-B14F-4D97-AF65-F5344CB8AC3E}">
        <p14:creationId xmlns:p14="http://schemas.microsoft.com/office/powerpoint/2010/main" val="36363598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13">
            <a:extLst xmlns:a="http://schemas.openxmlformats.org/drawingml/2006/main">
              <a:ext uri="{FF2B5EF4-FFF2-40B4-BE49-F238E27FC236}">
                <a16:creationId xmlns:a16="http://schemas.microsoft.com/office/drawing/2014/main" id="{AD7F2F4C-31B6-4F53-8CA1-024940D43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FA70CE2A-2CE3-4324-A8F9-86B3AE66F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복구는 병합·검증·배포를 한 번에 닫는 방식으로 진행했다</a:t>
            </a:r>
          </a:p>
        </p:txBody>
      </p:sp>
      <p:cxnSp>
        <p:nvCxnSpPr>
          <p:cNvPr id="21" name="top-rule-13"/>
          <p:cNvCxnSpPr/>
          <p:nvPr/>
        </p:nvCxnSpPr>
        <p:spPr>
          <a:xfrm xmlns:a="http://schemas.openxmlformats.org/drawingml/2006/main">
            <a:off x="533400" y="13906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13">
            <a:extLst xmlns:a="http://schemas.openxmlformats.org/drawingml/2006/main">
              <a:ext uri="{FF2B5EF4-FFF2-40B4-BE49-F238E27FC236}">
                <a16:creationId xmlns:a16="http://schemas.microsoft.com/office/drawing/2014/main" id="{6A435950-C6ED-4903-A69B-0695EA31F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13">
            <a:extLst xmlns:a="http://schemas.openxmlformats.org/drawingml/2006/main">
              <a:ext uri="{FF2B5EF4-FFF2-40B4-BE49-F238E27FC236}">
                <a16:creationId xmlns:a16="http://schemas.microsoft.com/office/drawing/2014/main" id="{8AF4F766-2BF2-415D-BDAC-F95949D85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13</a:t>
            </a:r>
          </a:p>
        </p:txBody>
      </p:sp>
      <p:sp>
        <p:nvSpPr>
          <p:cNvPr id="6" name="metric-1-72">
            <a:extLst xmlns:a="http://schemas.openxmlformats.org/drawingml/2006/main">
              <a:ext uri="{FF2B5EF4-FFF2-40B4-BE49-F238E27FC236}">
                <a16:creationId xmlns:a16="http://schemas.microsoft.com/office/drawing/2014/main" id="{C1014BF4-0A8D-4D43-895C-A55DFFE0C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E14B4B"/>
                </a:solidFill>
                <a:latin typeface="Malgun Gothic"/>
                <a:ea typeface="Malgun Gothic"/>
                <a:cs typeface="Malgun Gothic"/>
              </a:rPr>
              <a:t>1</a:t>
            </a:r>
          </a:p>
        </p:txBody>
      </p:sp>
      <p:sp>
        <p:nvSpPr>
          <p:cNvPr id="7" name="metric-label-1-72">
            <a:extLst xmlns:a="http://schemas.openxmlformats.org/drawingml/2006/main">
              <a:ext uri="{FF2B5EF4-FFF2-40B4-BE49-F238E27FC236}">
                <a16:creationId xmlns:a16="http://schemas.microsoft.com/office/drawing/2014/main" id="{7978F26E-A38C-4B4F-BCCA-B72739B62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package.json 충돌</a:t>
            </a:r>
          </a:p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두 테스트 목록 모두 유지</a:t>
            </a:r>
          </a:p>
        </p:txBody>
      </p:sp>
      <p:sp>
        <p:nvSpPr>
          <p:cNvPr id="8" name="metric-31-374">
            <a:extLst xmlns:a="http://schemas.openxmlformats.org/drawingml/2006/main">
              <a:ext uri="{FF2B5EF4-FFF2-40B4-BE49-F238E27FC236}">
                <a16:creationId xmlns:a16="http://schemas.microsoft.com/office/drawing/2014/main" id="{486B4E0A-2A2A-44E0-85BD-191A76365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0002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31</a:t>
            </a:r>
          </a:p>
        </p:txBody>
      </p:sp>
      <p:sp>
        <p:nvSpPr>
          <p:cNvPr id="9" name="metric-label-31-374">
            <a:extLst xmlns:a="http://schemas.openxmlformats.org/drawingml/2006/main">
              <a:ext uri="{FF2B5EF4-FFF2-40B4-BE49-F238E27FC236}">
                <a16:creationId xmlns:a16="http://schemas.microsoft.com/office/drawing/2014/main" id="{71D91DD6-1848-426F-AA3D-1592EBF8A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회귀 테스트 통과</a:t>
            </a:r>
          </a:p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fail 0</a:t>
            </a:r>
          </a:p>
        </p:txBody>
      </p:sp>
      <p:sp>
        <p:nvSpPr>
          <p:cNvPr id="10" name="metric-0 / 0-676">
            <a:extLst xmlns:a="http://schemas.openxmlformats.org/drawingml/2006/main">
              <a:ext uri="{FF2B5EF4-FFF2-40B4-BE49-F238E27FC236}">
                <a16:creationId xmlns:a16="http://schemas.microsoft.com/office/drawing/2014/main" id="{25D31A19-A1EB-4ADE-80EA-CE0508F93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0002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0E9F6E"/>
                </a:solidFill>
                <a:latin typeface="Malgun Gothic"/>
                <a:ea typeface="Malgun Gothic"/>
                <a:cs typeface="Malgun Gothic"/>
              </a:rPr>
              <a:t>0 / 0</a:t>
            </a:r>
          </a:p>
        </p:txBody>
      </p:sp>
      <p:sp>
        <p:nvSpPr>
          <p:cNvPr id="11" name="metric-label-0 / 0-676">
            <a:extLst xmlns:a="http://schemas.openxmlformats.org/drawingml/2006/main">
              <a:ext uri="{FF2B5EF4-FFF2-40B4-BE49-F238E27FC236}">
                <a16:creationId xmlns:a16="http://schemas.microsoft.com/office/drawing/2014/main" id="{300194EE-6FD2-44A5-91EC-BA80F487B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781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main ↔ origin/main</a:t>
            </a:r>
          </a:p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ahead / behind</a:t>
            </a:r>
          </a:p>
        </p:txBody>
      </p:sp>
      <p:sp>
        <p:nvSpPr>
          <p:cNvPr id="12" name="metric-#28-978">
            <a:extLst xmlns:a="http://schemas.openxmlformats.org/drawingml/2006/main">
              <a:ext uri="{FF2B5EF4-FFF2-40B4-BE49-F238E27FC236}">
                <a16:creationId xmlns:a16="http://schemas.microsoft.com/office/drawing/2014/main" id="{D8A9925C-642A-4840-84D4-81BE3923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000250"/>
            <a:ext cx="2286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40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#28</a:t>
            </a:r>
          </a:p>
        </p:txBody>
      </p:sp>
      <p:sp>
        <p:nvSpPr>
          <p:cNvPr id="13" name="metric-label-#28-978">
            <a:extLst xmlns:a="http://schemas.openxmlformats.org/drawingml/2006/main">
              <a:ext uri="{FF2B5EF4-FFF2-40B4-BE49-F238E27FC236}">
                <a16:creationId xmlns:a16="http://schemas.microsoft.com/office/drawing/2014/main" id="{999C71CF-20B8-4FAE-A242-4D1083ECB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81300"/>
            <a:ext cx="2286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GitHub Actions</a:t>
            </a:r>
          </a:p>
          <a:p xmlns:a="http://schemas.openxmlformats.org/drawingml/2006/main">
            <a:pPr algn="l">
              <a:def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배포 성공</a:t>
            </a:r>
          </a:p>
        </p:txBody>
      </p:sp>
      <p:cxnSp>
        <p:nvCxnSpPr>
          <p:cNvPr id="32" name="recovery-divider"/>
          <p:cNvCxnSpPr/>
          <p:nvPr/>
        </p:nvCxnSpPr>
        <p:spPr>
          <a:xfrm xmlns:a="http://schemas.openxmlformats.org/drawingml/2006/main">
            <a:off x="685800" y="3714750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15" name="recovery-sequence-title">
            <a:extLst xmlns:a="http://schemas.openxmlformats.org/drawingml/2006/main">
              <a:ext uri="{FF2B5EF4-FFF2-40B4-BE49-F238E27FC236}">
                <a16:creationId xmlns:a16="http://schemas.microsoft.com/office/drawing/2014/main" id="{5BE9694C-FD76-40E9-B417-A0B81A368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3860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복구 순서</a:t>
            </a:r>
          </a:p>
        </p:txBody>
      </p:sp>
      <p:sp>
        <p:nvSpPr>
          <p:cNvPr id="16" name="recovery-sequence">
            <a:extLst xmlns:a="http://schemas.openxmlformats.org/drawingml/2006/main">
              <a:ext uri="{FF2B5EF4-FFF2-40B4-BE49-F238E27FC236}">
                <a16:creationId xmlns:a16="http://schemas.microsoft.com/office/drawing/2014/main" id="{E8AB522A-A5AF-4128-BC3D-BEBEFC2A8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브랜치 비교  →  main 병합  →  충돌 해결  →  lint·types·build·tests  →  push  →  운영 화면 확인</a:t>
            </a:r>
          </a:p>
        </p:txBody>
      </p:sp>
      <p:sp>
        <p:nvSpPr>
          <p:cNvPr id="17" name="recovery-proof">
            <a:extLst xmlns:a="http://schemas.openxmlformats.org/drawingml/2006/main">
              <a:ext uri="{FF2B5EF4-FFF2-40B4-BE49-F238E27FC236}">
                <a16:creationId xmlns:a16="http://schemas.microsoft.com/office/drawing/2014/main" id="{5E2DB88A-2362-4AF6-B343-F819830B3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391150"/>
            <a:ext cx="8153400" cy="723900"/>
          </a:xfrm>
          <a:prstGeom xmlns:a="http://schemas.openxmlformats.org/drawingml/2006/main" prst="roundRect">
            <a:avLst>
              <a:gd name="adj" fmla="val 15789"/>
            </a:avLst>
          </a:prstGeom>
          <a:solidFill xmlns:a="http://schemas.openxmlformats.org/drawingml/2006/main">
            <a:srgbClr val="061327"/>
          </a:solidFill>
          <a:ln xmlns:a="http://schemas.openxmlformats.org/drawingml/2006/main" w="9525">
            <a:solidFill>
              <a:srgbClr val="061327"/>
            </a:solidFill>
            <a:prstDash val="solid"/>
          </a:ln>
        </p:spPr>
      </p:sp>
      <p:sp>
        <p:nvSpPr>
          <p:cNvPr id="18" name="recovery-proof-text">
            <a:extLst xmlns:a="http://schemas.openxmlformats.org/drawingml/2006/main">
              <a:ext uri="{FF2B5EF4-FFF2-40B4-BE49-F238E27FC236}">
                <a16:creationId xmlns:a16="http://schemas.microsoft.com/office/drawing/2014/main" id="{2C436FED-D013-4FC8-A11C-ECF155759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00700"/>
            <a:ext cx="7429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운영 페이지에서 ‘아이디’와 ‘비밀번호’ 입력란을 직접 확인하며 종료</a:t>
            </a:r>
          </a:p>
        </p:txBody>
      </p:sp>
    </p:spTree>
    <p:extLst>
      <p:ext uri="{BB962C8B-B14F-4D97-AF65-F5344CB8AC3E}">
        <p14:creationId xmlns:p14="http://schemas.microsoft.com/office/powerpoint/2010/main" val="151598931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8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4">
            <a:extLst xmlns:a="http://schemas.openxmlformats.org/drawingml/2006/main">
              <a:ext uri="{FF2B5EF4-FFF2-40B4-BE49-F238E27FC236}">
                <a16:creationId xmlns:a16="http://schemas.microsoft.com/office/drawing/2014/main" id="{1F167C4C-6173-4913-A305-B0468BA02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495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defRPr>
            </a:pPr>
            <a:r>
              <a:rPr sz="1050" b="1">
                <a:solidFill>
                  <a:srgbClr val="226BFF"/>
                </a:solidFill>
                <a:latin typeface="Malgun Gothic"/>
                <a:ea typeface="Malgun Gothic"/>
                <a:cs typeface="Malgun Gothic"/>
              </a:rPr>
              <a:t>BUILD RETROSPECTIVE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35AEAAD0-DA54-4A58-B2F4-AC3B75E7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781050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255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다음 프로젝트에서는 다섯 가지 통제를 기본값으로 둔다</a:t>
            </a:r>
          </a:p>
        </p:txBody>
      </p:sp>
      <p:cxnSp>
        <p:nvCxnSpPr>
          <p:cNvPr id="25" name="top-rule-14"/>
          <p:cNvCxnSpPr/>
          <p:nvPr/>
        </p:nvCxnSpPr>
        <p:spPr>
          <a:xfrm xmlns:a="http://schemas.openxmlformats.org/drawingml/2006/main">
            <a:off x="533400" y="15811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0DA"/>
            </a:solidFill>
            <a:prstDash val="solid"/>
          </a:ln>
        </p:spPr>
      </p:cxnSp>
      <p:sp>
        <p:nvSpPr>
          <p:cNvPr id="4" name="footer-14">
            <a:extLst xmlns:a="http://schemas.openxmlformats.org/drawingml/2006/main">
              <a:ext uri="{FF2B5EF4-FFF2-40B4-BE49-F238E27FC236}">
                <a16:creationId xmlns:a16="http://schemas.microsoft.com/office/drawing/2014/main" id="{60D40A26-130A-4321-BE62-22BE1A6F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컴박사 웹페이지 구축 회고  ·  2026.08.09</a:t>
            </a:r>
          </a:p>
        </p:txBody>
      </p:sp>
      <p:sp>
        <p:nvSpPr>
          <p:cNvPr id="5" name="page-14">
            <a:extLst xmlns:a="http://schemas.openxmlformats.org/drawingml/2006/main">
              <a:ext uri="{FF2B5EF4-FFF2-40B4-BE49-F238E27FC236}">
                <a16:creationId xmlns:a16="http://schemas.microsoft.com/office/drawing/2014/main" id="{ABBAECA0-85BD-49DF-A440-303A5124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00800"/>
            <a:ext cx="609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900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14</a:t>
            </a:r>
          </a:p>
        </p:txBody>
      </p:sp>
      <p:sp>
        <p:nvSpPr>
          <p:cNvPr id="6" name="controls-lead">
            <a:extLst xmlns:a="http://schemas.openxmlformats.org/drawingml/2006/main">
              <a:ext uri="{FF2B5EF4-FFF2-40B4-BE49-F238E27FC236}">
                <a16:creationId xmlns:a16="http://schemas.microsoft.com/office/drawing/2014/main" id="{90C1468E-028B-4C58-B570-2C8A2A42A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495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코드 품질과 배포 품질을 같은 프로세스에서 관리한다.</a:t>
            </a:r>
          </a:p>
        </p:txBody>
      </p:sp>
      <p:sp>
        <p:nvSpPr>
          <p:cNvPr id="7" name="controls-body">
            <a:extLst xmlns:a="http://schemas.openxmlformats.org/drawingml/2006/main">
              <a:ext uri="{FF2B5EF4-FFF2-40B4-BE49-F238E27FC236}">
                <a16:creationId xmlns:a16="http://schemas.microsoft.com/office/drawing/2014/main" id="{FABEE857-1C42-427F-8E9D-ABB74CCC2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4953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브랜치 사고는 테스트가 잡지 못한다.</a:t>
            </a:r>
          </a:p>
          <a:p xmlns:a="http://schemas.openxmlformats.org/drawingml/2006/main">
            <a:pPr algn="l">
              <a:def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반대로 배포 통제만으로는 입력 UX나 복원 가능성을 보장하지 못한다.</a:t>
            </a:r>
          </a:p>
          <a:p xmlns:a="http://schemas.openxmlformats.org/drawingml/2006/main">
            <a:pPr algn="l">
              <a:def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defRPr>
            </a:pPr>
            <a:r>
              <a:rPr sz="1425" b="0">
                <a:solidFill>
                  <a:srgbClr val="5B6575"/>
                </a:solidFill>
                <a:latin typeface="Malgun Gothic"/>
                <a:ea typeface="Malgun Gothic"/>
                <a:cs typeface="Malgun Gothic"/>
              </a:rPr>
              <a:t>두 영역을 함께 운영해야 한다.</a:t>
            </a:r>
          </a:p>
        </p:txBody>
      </p:sp>
      <p:sp>
        <p:nvSpPr>
          <p:cNvPr id="8" name="control-check-0">
            <a:extLst xmlns:a="http://schemas.openxmlformats.org/drawingml/2006/main">
              <a:ext uri="{FF2B5EF4-FFF2-40B4-BE49-F238E27FC236}">
                <a16:creationId xmlns:a16="http://schemas.microsoft.com/office/drawing/2014/main" id="{525F0C63-468D-4F41-8C38-A3D2C6D2C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9" name="control-checkmark-0">
            <a:extLst xmlns:a="http://schemas.openxmlformats.org/drawingml/2006/main">
              <a:ext uri="{FF2B5EF4-FFF2-40B4-BE49-F238E27FC236}">
                <a16:creationId xmlns:a16="http://schemas.microsoft.com/office/drawing/2014/main" id="{6F9C73FC-C8DD-4560-A334-9D08A123F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8859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0" name="control-text-0">
            <a:extLst xmlns:a="http://schemas.openxmlformats.org/drawingml/2006/main">
              <a:ext uri="{FF2B5EF4-FFF2-40B4-BE49-F238E27FC236}">
                <a16:creationId xmlns:a16="http://schemas.microsoft.com/office/drawing/2014/main" id="{C5C0BA36-B279-4D97-8B43-4C87B82EE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8288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PR 병합 후 브랜치 재사용 금지</a:t>
            </a:r>
          </a:p>
        </p:txBody>
      </p:sp>
      <p:sp>
        <p:nvSpPr>
          <p:cNvPr id="11" name="control-check-1">
            <a:extLst xmlns:a="http://schemas.openxmlformats.org/drawingml/2006/main">
              <a:ext uri="{FF2B5EF4-FFF2-40B4-BE49-F238E27FC236}">
                <a16:creationId xmlns:a16="http://schemas.microsoft.com/office/drawing/2014/main" id="{90C79F12-C7BC-42A8-B7C0-C36B9A74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2" name="control-checkmark-1">
            <a:extLst xmlns:a="http://schemas.openxmlformats.org/drawingml/2006/main">
              <a:ext uri="{FF2B5EF4-FFF2-40B4-BE49-F238E27FC236}">
                <a16:creationId xmlns:a16="http://schemas.microsoft.com/office/drawing/2014/main" id="{CAFC9AA5-4D30-4B3E-980E-492B5477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289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3" name="control-text-1">
            <a:extLst xmlns:a="http://schemas.openxmlformats.org/drawingml/2006/main">
              <a:ext uri="{FF2B5EF4-FFF2-40B4-BE49-F238E27FC236}">
                <a16:creationId xmlns:a16="http://schemas.microsoft.com/office/drawing/2014/main" id="{431259C7-C921-4440-BFF0-189253CF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5717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main 기준 재베이스 후 새 PR 생성</a:t>
            </a:r>
          </a:p>
        </p:txBody>
      </p:sp>
      <p:sp>
        <p:nvSpPr>
          <p:cNvPr id="14" name="control-check-2">
            <a:extLst xmlns:a="http://schemas.openxmlformats.org/drawingml/2006/main">
              <a:ext uri="{FF2B5EF4-FFF2-40B4-BE49-F238E27FC236}">
                <a16:creationId xmlns:a16="http://schemas.microsoft.com/office/drawing/2014/main" id="{FC074B5F-5CAC-48A8-974D-5E7126C94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5" name="control-checkmark-2">
            <a:extLst xmlns:a="http://schemas.openxmlformats.org/drawingml/2006/main">
              <a:ext uri="{FF2B5EF4-FFF2-40B4-BE49-F238E27FC236}">
                <a16:creationId xmlns:a16="http://schemas.microsoft.com/office/drawing/2014/main" id="{6D420A9F-D95D-4442-A594-D15E90EE0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718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6" name="control-text-2">
            <a:extLst xmlns:a="http://schemas.openxmlformats.org/drawingml/2006/main">
              <a:ext uri="{FF2B5EF4-FFF2-40B4-BE49-F238E27FC236}">
                <a16:creationId xmlns:a16="http://schemas.microsoft.com/office/drawing/2014/main" id="{F31416A5-B395-43C5-A9F0-87A56554D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3147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CI에 lint·types·migration·tests 고정</a:t>
            </a:r>
          </a:p>
        </p:txBody>
      </p:sp>
      <p:sp>
        <p:nvSpPr>
          <p:cNvPr id="17" name="control-check-3">
            <a:extLst xmlns:a="http://schemas.openxmlformats.org/drawingml/2006/main">
              <a:ext uri="{FF2B5EF4-FFF2-40B4-BE49-F238E27FC236}">
                <a16:creationId xmlns:a16="http://schemas.microsoft.com/office/drawing/2014/main" id="{1A98B9E4-4705-493C-AB52-9D7982C1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18" name="control-checkmark-3">
            <a:extLst xmlns:a="http://schemas.openxmlformats.org/drawingml/2006/main">
              <a:ext uri="{FF2B5EF4-FFF2-40B4-BE49-F238E27FC236}">
                <a16:creationId xmlns:a16="http://schemas.microsoft.com/office/drawing/2014/main" id="{4851B229-9EFD-43B7-9ECA-116D7F2D8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11480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9" name="control-text-3">
            <a:extLst xmlns:a="http://schemas.openxmlformats.org/drawingml/2006/main">
              <a:ext uri="{FF2B5EF4-FFF2-40B4-BE49-F238E27FC236}">
                <a16:creationId xmlns:a16="http://schemas.microsoft.com/office/drawing/2014/main" id="{8D3CB41A-D8FC-4EE5-839C-CEF94378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0576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배포 뒤 핵심 화면 smoke test</a:t>
            </a:r>
          </a:p>
        </p:txBody>
      </p:sp>
      <p:sp>
        <p:nvSpPr>
          <p:cNvPr id="20" name="control-check-4">
            <a:extLst xmlns:a="http://schemas.openxmlformats.org/drawingml/2006/main">
              <a:ext uri="{FF2B5EF4-FFF2-40B4-BE49-F238E27FC236}">
                <a16:creationId xmlns:a16="http://schemas.microsoft.com/office/drawing/2014/main" id="{FBB7DE37-2F9C-4BA0-A5FD-8530472E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6BFF"/>
          </a:solidFill>
          <a:ln xmlns:a="http://schemas.openxmlformats.org/drawingml/2006/main" w="0">
            <a:solidFill>
              <a:srgbClr val="226BFF"/>
            </a:solidFill>
            <a:prstDash val="solid"/>
          </a:ln>
        </p:spPr>
      </p:sp>
      <p:sp>
        <p:nvSpPr>
          <p:cNvPr id="21" name="control-checkmark-4">
            <a:extLst xmlns:a="http://schemas.openxmlformats.org/drawingml/2006/main">
              <a:ext uri="{FF2B5EF4-FFF2-40B4-BE49-F238E27FC236}">
                <a16:creationId xmlns:a16="http://schemas.microsoft.com/office/drawing/2014/main" id="{B478E672-B0DF-4952-8158-EED605BB0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57750"/>
            <a:ext cx="266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2" name="control-text-4">
            <a:extLst xmlns:a="http://schemas.openxmlformats.org/drawingml/2006/main">
              <a:ext uri="{FF2B5EF4-FFF2-40B4-BE49-F238E27FC236}">
                <a16:creationId xmlns:a16="http://schemas.microsoft.com/office/drawing/2014/main" id="{BECE36AF-0A3A-4B5D-B540-8441C575A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006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07111F"/>
                </a:solidFill>
                <a:latin typeface="Malgun Gothic"/>
                <a:ea typeface="Malgun Gothic"/>
                <a:cs typeface="Malgun Gothic"/>
              </a:rPr>
              <a:t>백업 복원 절차와 운영 runbook 유지</a:t>
            </a:r>
          </a:p>
        </p:txBody>
      </p:sp>
    </p:spTree>
    <p:extLst>
      <p:ext uri="{BB962C8B-B14F-4D97-AF65-F5344CB8AC3E}">
        <p14:creationId xmlns:p14="http://schemas.microsoft.com/office/powerpoint/2010/main" val="2002735984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132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16D3AEAA-AF45-450C-8DDA-9E5286C3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5720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125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FINAL TAKEAWAY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9F6AE84-FD9B-411F-AA0D-D7C13A8E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90700"/>
            <a:ext cx="10287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완성된 화면보다 중요한 것은</a:t>
            </a:r>
          </a:p>
          <a:p xmlns:a="http://schemas.openxmlformats.org/drawingml/2006/main">
            <a:pPr algn="l">
              <a:def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defRPr>
            </a:pPr>
            <a:r>
              <a:rPr sz="3900" b="1">
                <a:solidFill>
                  <a:srgbClr val="FFFFFF"/>
                </a:solidFill>
                <a:latin typeface="Malgun Gothic"/>
                <a:ea typeface="Malgun Gothic"/>
                <a:cs typeface="Malgun Gothic"/>
              </a:rPr>
              <a:t>복구 가능한 운영 과정이다</a:t>
            </a:r>
          </a:p>
        </p:txBody>
      </p:sp>
      <p:sp>
        <p:nvSpPr>
          <p:cNvPr id="3" name="close-body">
            <a:extLst xmlns:a="http://schemas.openxmlformats.org/drawingml/2006/main">
              <a:ext uri="{FF2B5EF4-FFF2-40B4-BE49-F238E27FC236}">
                <a16:creationId xmlns:a16="http://schemas.microsoft.com/office/drawing/2014/main" id="{9691A039-E5AD-4349-8C6D-B0B510EF0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267200"/>
            <a:ext cx="8572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C7D5E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7D5EA"/>
                </a:solidFill>
                <a:latin typeface="Malgun Gothic"/>
                <a:ea typeface="Malgun Gothic"/>
                <a:cs typeface="Malgun Gothic"/>
              </a:rPr>
              <a:t>기능 · 데이터 · 보안 · 배포 · 백업이 한 흐름으로 연결될 때</a:t>
            </a:r>
          </a:p>
          <a:p xmlns:a="http://schemas.openxmlformats.org/drawingml/2006/main">
            <a:pPr algn="l">
              <a:defRPr sz="1800" b="0">
                <a:solidFill>
                  <a:srgbClr val="C7D5EA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C7D5EA"/>
                </a:solidFill>
                <a:latin typeface="Malgun Gothic"/>
                <a:ea typeface="Malgun Gothic"/>
                <a:cs typeface="Malgun Gothic"/>
              </a:rPr>
              <a:t>웹페이지는 비로소 운영 가능한 서비스가 된다.</a:t>
            </a:r>
          </a:p>
        </p:txBody>
      </p:sp>
      <p:cxnSp>
        <p:nvCxnSpPr>
          <p:cNvPr id="10" name="close-rule"/>
          <p:cNvCxnSpPr/>
          <p:nvPr/>
        </p:nvCxnSpPr>
        <p:spPr>
          <a:xfrm xmlns:a="http://schemas.openxmlformats.org/drawingml/2006/main">
            <a:off x="533400" y="5619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31445E"/>
            </a:solidFill>
            <a:prstDash val="solid"/>
          </a:ln>
        </p:spPr>
      </p:cxnSp>
      <p:sp>
        <p:nvSpPr>
          <p:cNvPr id="5" name="close-url">
            <a:extLst xmlns:a="http://schemas.openxmlformats.org/drawingml/2006/main">
              <a:ext uri="{FF2B5EF4-FFF2-40B4-BE49-F238E27FC236}">
                <a16:creationId xmlns:a16="http://schemas.microsoft.com/office/drawing/2014/main" id="{2A96AAEA-5C51-4F7A-8DA5-F9F1527EC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7CFC3"/>
                </a:solidFill>
                <a:latin typeface="Malgun Gothic"/>
                <a:ea typeface="Malgun Gothic"/>
                <a:cs typeface="Malgun Gothic"/>
              </a:rPr>
              <a:t>https://combaksa.pe.kr</a:t>
            </a:r>
          </a:p>
        </p:txBody>
      </p:sp>
      <p:sp>
        <p:nvSpPr>
          <p:cNvPr id="6" name="close-date">
            <a:extLst xmlns:a="http://schemas.openxmlformats.org/drawingml/2006/main">
              <a:ext uri="{FF2B5EF4-FFF2-40B4-BE49-F238E27FC236}">
                <a16:creationId xmlns:a16="http://schemas.microsoft.com/office/drawing/2014/main" id="{BCCC088E-382E-4DEF-96BE-BFF99CC02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5905500"/>
            <a:ext cx="2971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8FA3BF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8FA3BF"/>
                </a:solidFill>
                <a:latin typeface="Malgun Gothic"/>
                <a:ea typeface="Malgun Gothic"/>
                <a:cs typeface="Malgun Gothic"/>
              </a:rPr>
              <a:t>COMBAKSA · 2026.08.09</a:t>
            </a:r>
          </a:p>
        </p:txBody>
      </p:sp>
    </p:spTree>
    <p:extLst>
      <p:ext uri="{BB962C8B-B14F-4D97-AF65-F5344CB8AC3E}">
        <p14:creationId xmlns:p14="http://schemas.microsoft.com/office/powerpoint/2010/main" val="212534135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2026-08-09T06:45:47.8630000Z</dcterms:created>
  <dcterms:modified xsi:type="dcterms:W3CDTF">2026-08-09T06:45:47.8630000Z</dcterms:modified>
</coreProperties>
</file>